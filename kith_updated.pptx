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1" r:id="rId16"/>
    <p:sldId id="270" r:id="rId17"/>
  </p:sldIdLst>
  <p:sldSz cx="9144000" cy="5143500" type="screen16x9"/>
  <p:notesSz cx="6858000" cy="9144000"/>
  <p:embeddedFontLst>
    <p:embeddedFont>
      <p:font typeface="Google Sans"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07f7ad1a1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c07f7ad1a1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c07f7ad1a1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c07f7ad1a1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07f7ad1a1_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c07f7ad1a1_2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07f7ad1a1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c07f7ad1a1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07f7ad1a1_2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c07f7ad1a1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07f7ad1a1_2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c07f7ad1a1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1" i="0" u="none" strike="noStrike" cap="none">
                <a:solidFill>
                  <a:schemeClr val="accent1"/>
                </a:solidFill>
                <a:latin typeface="Google Sans"/>
                <a:ea typeface="Google Sans"/>
                <a:cs typeface="Google Sans"/>
                <a:sym typeface="Google Sans"/>
              </a:rPr>
              <a:t>Guidelines</a:t>
            </a:r>
            <a:endParaRPr sz="4000" b="1" i="0" u="none" strike="noStrike" cap="non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Kindly use the given template for submitting your </a:t>
            </a:r>
            <a:r>
              <a:rPr lang="en-GB" sz="1500">
                <a:solidFill>
                  <a:srgbClr val="434343"/>
                </a:solidFill>
                <a:latin typeface="Google Sans"/>
                <a:ea typeface="Google Sans"/>
                <a:cs typeface="Google Sans"/>
                <a:sym typeface="Google Sans"/>
              </a:rPr>
              <a:t>prototype</a:t>
            </a:r>
            <a:r>
              <a:rPr lang="en-GB" sz="1500" b="0" i="0" u="none" strike="noStrike" cap="none">
                <a:solidFill>
                  <a:srgbClr val="434343"/>
                </a:solidFill>
                <a:latin typeface="Google Sans"/>
                <a:ea typeface="Google Sans"/>
                <a:cs typeface="Google Sans"/>
                <a:sym typeface="Google Sans"/>
              </a:rPr>
              <a:t>(Make a copy of the template)</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One team is only required to submit one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You are welcome to add as many POCs and design concepts to support your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In case of queries, kindly reach out to us at </a:t>
            </a:r>
            <a:r>
              <a:rPr lang="en-GB" sz="1500">
                <a:solidFill>
                  <a:srgbClr val="434343"/>
                </a:solidFill>
                <a:latin typeface="Google Sans"/>
                <a:ea typeface="Google Sans"/>
                <a:cs typeface="Google Sans"/>
                <a:sym typeface="Google Sans"/>
              </a:rPr>
              <a:t>solutionchallengesupport@hack2skill.com</a:t>
            </a:r>
            <a:endParaRPr sz="1500" b="0" i="0" u="none" strike="noStrike" cap="non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Kith</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Arnab Goswami</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Early Detection of Substance Abuse &amp; Mental Health Crises in Communities </a:t>
            </a:r>
            <a:r>
              <a:rPr lang="en-US" sz="1600" b="1" i="0" u="none" strike="noStrike" cap="none" dirty="0">
                <a:solidFill>
                  <a:srgbClr val="000000"/>
                </a:solidFill>
                <a:latin typeface="Google Sans"/>
                <a:ea typeface="Google Sans"/>
                <a:cs typeface="Google Sans"/>
                <a:sym typeface="Google Sans"/>
              </a:rPr>
              <a:t>(</a:t>
            </a:r>
            <a:r>
              <a:rPr lang="en-US" sz="1600" b="1" dirty="0"/>
              <a:t>Smart Resource Allocation</a:t>
            </a:r>
            <a:r>
              <a:rPr lang="en-US" sz="1600" dirty="0"/>
              <a:t>: Data-Driven Volunteer Coordination for Social Impact</a:t>
            </a:r>
            <a:r>
              <a:rPr lang="en-US" sz="1600" b="1" dirty="0"/>
              <a:t>)</a:t>
            </a:r>
            <a:endParaRPr lang="en-US" sz="16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Kith is an </a:t>
            </a:r>
            <a:r>
              <a:rPr lang="en-GB" sz="1800" b="0" i="0" u="none" strike="noStrike" cap="none" dirty="0">
                <a:solidFill>
                  <a:srgbClr val="FF0000"/>
                </a:solidFill>
                <a:latin typeface="Google Sans"/>
                <a:ea typeface="Google Sans"/>
                <a:cs typeface="Google Sans"/>
                <a:sym typeface="Google Sans"/>
              </a:rPr>
              <a:t>AI-powered geospatial intelligence </a:t>
            </a:r>
            <a:r>
              <a:rPr lang="en-GB" sz="1800" b="0" i="0" u="none" strike="noStrike" cap="none" dirty="0">
                <a:latin typeface="Google Sans"/>
                <a:ea typeface="Google Sans"/>
                <a:cs typeface="Google Sans"/>
                <a:sym typeface="Google Sans"/>
              </a:rPr>
              <a:t>platform </a:t>
            </a:r>
            <a:r>
              <a:rPr lang="en-GB" sz="1800" b="0" i="0" u="none" strike="noStrike" cap="none" dirty="0">
                <a:solidFill>
                  <a:srgbClr val="000000"/>
                </a:solidFill>
                <a:latin typeface="Google Sans"/>
                <a:ea typeface="Google Sans"/>
                <a:cs typeface="Google Sans"/>
                <a:sym typeface="Google Sans"/>
              </a:rPr>
              <a:t>that </a:t>
            </a:r>
            <a:r>
              <a:rPr lang="en-GB" sz="1800" b="0" i="0" u="none" strike="noStrike" cap="none" dirty="0">
                <a:solidFill>
                  <a:srgbClr val="00B050"/>
                </a:solidFill>
                <a:latin typeface="Google Sans"/>
                <a:ea typeface="Google Sans"/>
                <a:cs typeface="Google Sans"/>
                <a:sym typeface="Google Sans"/>
              </a:rPr>
              <a:t>helps NGOs and field teams detect early warning signs of substance abuse and mental health vulnerability in communities</a:t>
            </a:r>
            <a:r>
              <a:rPr lang="en-GB" sz="1800" b="0" i="0" u="none" strike="noStrike" cap="none" dirty="0">
                <a:solidFill>
                  <a:srgbClr val="000000"/>
                </a:solidFill>
                <a:latin typeface="Google Sans"/>
                <a:ea typeface="Google Sans"/>
                <a:cs typeface="Google Sans"/>
                <a:sym typeface="Google Sans"/>
              </a:rPr>
              <a:t>.</a:t>
            </a:r>
          </a:p>
          <a:p>
            <a:pPr marL="0" marR="0" lvl="0" indent="0" algn="l" rtl="0">
              <a:lnSpc>
                <a:spcPct val="100000"/>
              </a:lnSpc>
              <a:spcBef>
                <a:spcPts val="0"/>
              </a:spcBef>
              <a:spcAft>
                <a:spcPts val="0"/>
              </a:spcAft>
              <a:buNone/>
            </a:pPr>
            <a:r>
              <a:rPr lang="en-GB" sz="1800" b="0" i="0" u="none" strike="noStrike" cap="none" dirty="0">
                <a:solidFill>
                  <a:srgbClr val="000000"/>
                </a:solidFill>
                <a:latin typeface="Google Sans"/>
              </a:rPr>
              <a:t>Field teams </a:t>
            </a:r>
            <a:r>
              <a:rPr lang="en-GB" sz="1800" b="0" i="0" u="none" strike="noStrike" cap="none" dirty="0">
                <a:solidFill>
                  <a:schemeClr val="accent1"/>
                </a:solidFill>
                <a:latin typeface="Google Sans"/>
              </a:rPr>
              <a:t>collect anonymised survey data through bulk CSV upload, direct manual entry, or photo capture</a:t>
            </a:r>
            <a:r>
              <a:rPr lang="en-GB" sz="1800" b="0" i="0" u="none" strike="noStrike" cap="none" dirty="0">
                <a:solidFill>
                  <a:srgbClr val="000000"/>
                </a:solidFill>
                <a:latin typeface="Google Sans"/>
              </a:rPr>
              <a:t>. </a:t>
            </a:r>
            <a:r>
              <a:rPr lang="en-GB" sz="1800" b="0" i="0" u="none" strike="noStrike" cap="none" dirty="0">
                <a:latin typeface="Google Sans"/>
              </a:rPr>
              <a:t>Gemini AI </a:t>
            </a:r>
            <a:r>
              <a:rPr lang="en-GB" sz="1800" b="0" i="0" u="none" strike="noStrike" cap="none" dirty="0">
                <a:solidFill>
                  <a:srgbClr val="FF0000"/>
                </a:solidFill>
                <a:latin typeface="Google Sans"/>
              </a:rPr>
              <a:t>analyses the data against a custom weighted rubric—accounting for stress, happiness, sleep, economic context, and social factors</a:t>
            </a:r>
            <a:r>
              <a:rPr lang="en-GB" sz="1800" b="0" i="0" u="none" strike="noStrike" cap="none" dirty="0">
                <a:solidFill>
                  <a:srgbClr val="000000"/>
                </a:solidFill>
                <a:latin typeface="Google Sans"/>
              </a:rPr>
              <a:t>—to </a:t>
            </a:r>
            <a:r>
              <a:rPr lang="en-GB" sz="1800" b="0" i="0" u="none" strike="noStrike" cap="none" dirty="0">
                <a:solidFill>
                  <a:srgbClr val="00B050"/>
                </a:solidFill>
                <a:latin typeface="Google Sans"/>
              </a:rPr>
              <a:t>produce a standardised vulnerability score (1–10).</a:t>
            </a:r>
          </a:p>
          <a:p>
            <a:pPr marL="0" marR="0" lvl="0" indent="0" algn="l" rtl="0">
              <a:lnSpc>
                <a:spcPct val="100000"/>
              </a:lnSpc>
              <a:spcBef>
                <a:spcPts val="0"/>
              </a:spcBef>
              <a:spcAft>
                <a:spcPts val="0"/>
              </a:spcAft>
              <a:buNone/>
            </a:pPr>
            <a:r>
              <a:rPr lang="en-GB" sz="1800" b="0" i="0" u="none" strike="noStrike" cap="none" dirty="0">
                <a:solidFill>
                  <a:srgbClr val="FF0000"/>
                </a:solidFill>
                <a:latin typeface="Google Sans"/>
              </a:rPr>
              <a:t>Scores are geocoded and visualised as a real-time heatmap on Google Maps.</a:t>
            </a:r>
            <a:r>
              <a:rPr lang="en-GB" sz="1800" b="0" i="0" u="none" strike="noStrike" cap="none" dirty="0">
                <a:solidFill>
                  <a:srgbClr val="000000"/>
                </a:solidFill>
                <a:latin typeface="Google Sans"/>
              </a:rPr>
              <a:t> </a:t>
            </a:r>
            <a:r>
              <a:rPr lang="en-GB" sz="1800" b="0" i="0" u="none" strike="noStrike" cap="none" dirty="0">
                <a:solidFill>
                  <a:srgbClr val="00B050"/>
                </a:solidFill>
                <a:latin typeface="Google Sans"/>
              </a:rPr>
              <a:t>Supervisors draw deployment zones over hotspots, assign field team members, </a:t>
            </a:r>
            <a:r>
              <a:rPr lang="en-GB" sz="1800" b="0" i="0" u="none" strike="noStrike" cap="none" dirty="0">
                <a:solidFill>
                  <a:srgbClr val="000000"/>
                </a:solidFill>
                <a:latin typeface="Google Sans"/>
              </a:rPr>
              <a:t>and </a:t>
            </a:r>
            <a:r>
              <a:rPr lang="en-GB" sz="1800" b="0" i="0" u="none" strike="noStrike" cap="none" dirty="0">
                <a:solidFill>
                  <a:schemeClr val="accent1"/>
                </a:solidFill>
                <a:latin typeface="Google Sans"/>
              </a:rPr>
              <a:t>track intervention outcomes over time on a dedicated Impact Timeline</a:t>
            </a:r>
            <a:r>
              <a:rPr lang="en-GB" sz="1800" b="0" i="0" u="none" strike="noStrike" cap="none" dirty="0">
                <a:solidFill>
                  <a:srgbClr val="000000"/>
                </a:solidFill>
                <a:latin typeface="Google Sans"/>
              </a:rPr>
              <a:t>—closing the loop from data collection to </a:t>
            </a:r>
            <a:r>
              <a:rPr lang="en-GB" sz="1800" b="0" i="0" u="none" strike="noStrike" cap="none" dirty="0">
                <a:solidFill>
                  <a:srgbClr val="FFC000"/>
                </a:solidFill>
                <a:latin typeface="Google Sans"/>
              </a:rPr>
              <a:t>measurable community impact</a:t>
            </a:r>
            <a:r>
              <a:rPr lang="en-GB" sz="1800" b="0" i="0" u="none" strike="noStrike" cap="none" dirty="0">
                <a:solidFill>
                  <a:srgbClr val="000000"/>
                </a:solidFill>
                <a:latin typeface="Google Sans"/>
              </a:rPr>
              <a:t>.</a:t>
            </a:r>
            <a:endParaRPr sz="1800" b="0" i="0" u="none" strike="noStrike" cap="none" dirty="0">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0" y="684735"/>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Opportunities</a:t>
            </a:r>
            <a:endParaRPr sz="1800" b="0" i="0" u="none" strike="noStrike" cap="none" dirty="0">
              <a:solidFill>
                <a:srgbClr val="000000"/>
              </a:solidFill>
              <a:latin typeface="Google Sans"/>
              <a:ea typeface="Google Sans"/>
              <a:cs typeface="Google Sans"/>
              <a:sym typeface="Google Sans"/>
            </a:endParaRPr>
          </a:p>
          <a:p>
            <a:pPr marL="914400" lvl="1" indent="-342900">
              <a:lnSpc>
                <a:spcPct val="115000"/>
              </a:lnSpc>
              <a:buSzPts val="1800"/>
              <a:buFont typeface="Google Sans"/>
              <a:buAutoNum type="alphaLcPeriod"/>
            </a:pPr>
            <a:r>
              <a:rPr lang="en-GB" b="0" i="0" u="none" strike="noStrike" cap="none" dirty="0">
                <a:solidFill>
                  <a:srgbClr val="000000"/>
                </a:solidFill>
                <a:latin typeface="Google Sans"/>
                <a:ea typeface="Google Sans"/>
                <a:cs typeface="Google Sans"/>
                <a:sym typeface="Google Sans"/>
              </a:rPr>
              <a:t>How different is it from any of the other existing ideas? </a:t>
            </a:r>
            <a:r>
              <a:rPr lang="en-GB" b="0" i="0" u="none" strike="noStrike" cap="none" dirty="0">
                <a:solidFill>
                  <a:srgbClr val="FF0000"/>
                </a:solidFill>
                <a:latin typeface="Google Sans"/>
                <a:ea typeface="Google Sans"/>
                <a:cs typeface="Google Sans"/>
                <a:sym typeface="Google Sans"/>
              </a:rPr>
              <a:t>Existing tools are retrospective</a:t>
            </a:r>
            <a:r>
              <a:rPr lang="en-GB" dirty="0">
                <a:solidFill>
                  <a:srgbClr val="FF0000"/>
                </a:solidFill>
                <a:latin typeface="Google Sans"/>
                <a:ea typeface="Google Sans"/>
                <a:cs typeface="Google Sans"/>
                <a:sym typeface="Google Sans"/>
              </a:rPr>
              <a:t> </a:t>
            </a:r>
            <a:r>
              <a:rPr lang="en-GB" dirty="0">
                <a:latin typeface="Google Sans"/>
                <a:ea typeface="Google Sans"/>
                <a:cs typeface="Google Sans"/>
                <a:sym typeface="Google Sans"/>
              </a:rPr>
              <a:t>(NCRB dashboards, HMIS portals) </a:t>
            </a:r>
            <a:r>
              <a:rPr lang="en-GB" b="0" i="0" u="none" strike="noStrike" cap="none" dirty="0">
                <a:solidFill>
                  <a:srgbClr val="000000"/>
                </a:solidFill>
                <a:latin typeface="Google Sans"/>
                <a:ea typeface="Google Sans"/>
                <a:cs typeface="Google Sans"/>
                <a:sym typeface="Google Sans"/>
              </a:rPr>
              <a:t>—they report crises after they happen. </a:t>
            </a:r>
            <a:r>
              <a:rPr lang="en-GB" b="0" i="0" u="none" strike="noStrike" cap="none" dirty="0">
                <a:solidFill>
                  <a:srgbClr val="00B050"/>
                </a:solidFill>
                <a:latin typeface="Google Sans"/>
                <a:ea typeface="Google Sans"/>
                <a:cs typeface="Google Sans"/>
                <a:sym typeface="Google Sans"/>
              </a:rPr>
              <a:t>Kith is predictive</a:t>
            </a:r>
            <a:r>
              <a:rPr lang="en-GB" b="0" i="0" u="none" strike="noStrike" cap="none" dirty="0">
                <a:solidFill>
                  <a:srgbClr val="000000"/>
                </a:solidFill>
                <a:latin typeface="Google Sans"/>
                <a:ea typeface="Google Sans"/>
                <a:cs typeface="Google Sans"/>
                <a:sym typeface="Google Sans"/>
              </a:rPr>
              <a:t>: it converts raw field survey data into forward-looking vulnerability scores before a crisis event, giving NGOs weeks of lead time rather than a post-mortem report.</a:t>
            </a:r>
            <a:endParaRPr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b="0" i="0" u="none" strike="noStrike" cap="none" dirty="0">
                <a:solidFill>
                  <a:srgbClr val="000000"/>
                </a:solidFill>
                <a:latin typeface="Google Sans"/>
                <a:ea typeface="Google Sans"/>
                <a:cs typeface="Google Sans"/>
                <a:sym typeface="Google Sans"/>
              </a:rPr>
              <a:t>How will it be able to solve the problem? Kith bridges the gap between raw demographic data and actionable field intelligence. A field officer uploads a survey; within 2 minutes Gemini produces a risk score, the GPS coordinates are resolved, and the point appears on the live heatmap. A supervisor draws a zone, assigns a team, and the cycle from data to deployed worker closes in under an hour—compared to weeks with manual analysis.</a:t>
            </a:r>
            <a:endParaRPr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b="0" i="0" u="none" strike="noStrike" cap="none" dirty="0">
                <a:solidFill>
                  <a:srgbClr val="000000"/>
                </a:solidFill>
                <a:latin typeface="Google Sans"/>
                <a:ea typeface="Google Sans"/>
                <a:cs typeface="Google Sans"/>
                <a:sym typeface="Google Sans"/>
              </a:rPr>
              <a:t>USP of the proposed solution: Three compounding layers no competitor combines—(1) a custom Gemini rubric with mandatory override rules (not a generic prompt), (2) population-weighted spatial aggregation with a k-anonymity threshold (privacy-by-design), and (3) a full intervention feedback loop that produces quantitative before/after evidence of impact for NGO funders.</a:t>
            </a:r>
            <a:endParaRPr dirty="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595959"/>
              </a:solidFill>
              <a:latin typeface="Google Sans"/>
              <a:ea typeface="Google Sans"/>
              <a:cs typeface="Google Sans"/>
              <a:sym typeface="Google Sans"/>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200" b="1" i="0" u="none" strike="noStrike" cap="none" dirty="0">
                <a:solidFill>
                  <a:srgbClr val="000000"/>
                </a:solidFill>
                <a:latin typeface="Google Sans"/>
                <a:ea typeface="Google Sans"/>
                <a:cs typeface="Google Sans"/>
                <a:sym typeface="Google Sans"/>
              </a:rPr>
              <a:t>1. AI-Driven Risk Scoring: </a:t>
            </a:r>
            <a:r>
              <a:rPr lang="en-GB" sz="1200" b="0" i="0" u="none" strike="noStrike" cap="none" dirty="0">
                <a:solidFill>
                  <a:srgbClr val="000000"/>
                </a:solidFill>
                <a:latin typeface="Google Sans"/>
                <a:ea typeface="Google Sans"/>
                <a:cs typeface="Google Sans"/>
                <a:sym typeface="Google Sans"/>
              </a:rPr>
              <a:t>Gemini 2.5 Flash analyses demographic, lifestyle, and mental health indicators using a weighted rubric with mandatory overrides (e.g. high happiness caps risk at 4/10), producing a standardised 1–10 vulnerability index per survey.
</a:t>
            </a:r>
            <a:r>
              <a:rPr lang="en-GB" sz="1200" b="1" i="0" u="none" strike="noStrike" cap="none" dirty="0">
                <a:solidFill>
                  <a:srgbClr val="000000"/>
                </a:solidFill>
                <a:latin typeface="Google Sans"/>
                <a:ea typeface="Google Sans"/>
                <a:cs typeface="Google Sans"/>
                <a:sym typeface="Google Sans"/>
              </a:rPr>
              <a:t>2. Three-Mode Data Ingestion: </a:t>
            </a:r>
            <a:r>
              <a:rPr lang="en-GB" sz="1200" b="0" i="0" u="none" strike="noStrike" cap="none" dirty="0">
                <a:solidFill>
                  <a:srgbClr val="000000"/>
                </a:solidFill>
                <a:latin typeface="Google Sans"/>
                <a:ea typeface="Google Sans"/>
                <a:cs typeface="Google Sans"/>
                <a:sym typeface="Google Sans"/>
              </a:rPr>
              <a:t>Bulk CSV/Excel upload (server-side pandas parsing), direct manual entry (5 structured sub-forms compiled into a single JSON payload), and photo upload (visual OCR via Gemini multimodal).
3. </a:t>
            </a:r>
            <a:r>
              <a:rPr lang="en-GB" sz="1200" b="1" i="0" u="none" strike="noStrike" cap="none" dirty="0">
                <a:solidFill>
                  <a:srgbClr val="000000"/>
                </a:solidFill>
                <a:latin typeface="Google Sans"/>
                <a:ea typeface="Google Sans"/>
                <a:cs typeface="Google Sans"/>
                <a:sym typeface="Google Sans"/>
              </a:rPr>
              <a:t>Geospatial Heatmap: </a:t>
            </a:r>
            <a:r>
              <a:rPr lang="en-GB" sz="1200" b="0" i="0" u="none" strike="noStrike" cap="none" dirty="0">
                <a:solidFill>
                  <a:srgbClr val="000000"/>
                </a:solidFill>
                <a:latin typeface="Google Sans"/>
                <a:ea typeface="Google Sans"/>
                <a:cs typeface="Google Sans"/>
                <a:sym typeface="Google Sans"/>
              </a:rPr>
              <a:t>Google Maps Visualization API renders weighted risk points in real time. Scores are geocoded via the Maps Geocoding API before Firebase write; archived records (&gt;90 days) are automatically excluded from the live layer.
</a:t>
            </a:r>
            <a:r>
              <a:rPr lang="en-GB" sz="1200" b="1" i="0" u="none" strike="noStrike" cap="none" dirty="0">
                <a:solidFill>
                  <a:srgbClr val="000000"/>
                </a:solidFill>
                <a:latin typeface="Google Sans"/>
                <a:ea typeface="Google Sans"/>
                <a:cs typeface="Google Sans"/>
                <a:sym typeface="Google Sans"/>
              </a:rPr>
              <a:t>4. Zone Drawing &amp; Team Assignment: </a:t>
            </a:r>
            <a:r>
              <a:rPr lang="en-GB" sz="1200" b="0" i="0" u="none" strike="noStrike" cap="none" dirty="0" err="1">
                <a:solidFill>
                  <a:srgbClr val="000000"/>
                </a:solidFill>
                <a:latin typeface="Google Sans"/>
                <a:ea typeface="Google Sans"/>
                <a:cs typeface="Google Sans"/>
                <a:sym typeface="Google Sans"/>
              </a:rPr>
              <a:t>DrawingManager</a:t>
            </a:r>
            <a:r>
              <a:rPr lang="en-GB" sz="1200" b="0" i="0" u="none" strike="noStrike" cap="none" dirty="0">
                <a:solidFill>
                  <a:srgbClr val="000000"/>
                </a:solidFill>
                <a:latin typeface="Google Sans"/>
                <a:ea typeface="Google Sans"/>
                <a:cs typeface="Google Sans"/>
                <a:sym typeface="Google Sans"/>
              </a:rPr>
              <a:t> lets supervisors define deployment rectangles. On save, Gemini evaluates the zone’s historical crime context and attaches a location risk score to the assignment.
</a:t>
            </a:r>
            <a:r>
              <a:rPr lang="en-GB" sz="1200" b="1" i="0" u="none" strike="noStrike" cap="none" dirty="0">
                <a:solidFill>
                  <a:srgbClr val="000000"/>
                </a:solidFill>
                <a:latin typeface="Google Sans"/>
                <a:ea typeface="Google Sans"/>
                <a:cs typeface="Google Sans"/>
                <a:sym typeface="Google Sans"/>
              </a:rPr>
              <a:t>5. Population-Weighted Aggregation: </a:t>
            </a:r>
            <a:r>
              <a:rPr lang="en-GB" sz="1200" b="0" i="0" u="none" strike="noStrike" cap="none" dirty="0" err="1">
                <a:solidFill>
                  <a:srgbClr val="000000"/>
                </a:solidFill>
                <a:latin typeface="Google Sans"/>
                <a:ea typeface="Google Sans"/>
                <a:cs typeface="Google Sans"/>
                <a:sym typeface="Google Sans"/>
              </a:rPr>
              <a:t>ActiveDeployments</a:t>
            </a:r>
            <a:r>
              <a:rPr lang="en-GB" sz="1200" b="0" i="0" u="none" strike="noStrike" cap="none" dirty="0">
                <a:solidFill>
                  <a:srgbClr val="000000"/>
                </a:solidFill>
                <a:latin typeface="Google Sans"/>
                <a:ea typeface="Google Sans"/>
                <a:cs typeface="Google Sans"/>
                <a:sym typeface="Google Sans"/>
              </a:rPr>
              <a:t> intersects uploaded profiles with zone boundaries and computes a weighted average score (weight = </a:t>
            </a:r>
            <a:r>
              <a:rPr lang="en-GB" sz="1200" b="0" i="0" u="none" strike="noStrike" cap="none" dirty="0" err="1">
                <a:solidFill>
                  <a:srgbClr val="000000"/>
                </a:solidFill>
                <a:latin typeface="Google Sans"/>
                <a:ea typeface="Google Sans"/>
                <a:cs typeface="Google Sans"/>
                <a:sym typeface="Google Sans"/>
              </a:rPr>
              <a:t>demographicSize</a:t>
            </a:r>
            <a:r>
              <a:rPr lang="en-GB" sz="1200" b="0" i="0" u="none" strike="noStrike" cap="none" dirty="0">
                <a:solidFill>
                  <a:srgbClr val="000000"/>
                </a:solidFill>
                <a:latin typeface="Google Sans"/>
                <a:ea typeface="Google Sans"/>
                <a:cs typeface="Google Sans"/>
                <a:sym typeface="Google Sans"/>
              </a:rPr>
              <a:t>). Requires minimum 3 profiles per zone (k-anonymity threshold).
</a:t>
            </a:r>
            <a:r>
              <a:rPr lang="en-GB" sz="1200" b="1" i="0" u="none" strike="noStrike" cap="none" dirty="0">
                <a:solidFill>
                  <a:srgbClr val="000000"/>
                </a:solidFill>
                <a:latin typeface="Google Sans"/>
                <a:ea typeface="Google Sans"/>
                <a:cs typeface="Google Sans"/>
                <a:sym typeface="Google Sans"/>
              </a:rPr>
              <a:t>6. Intervention Outcome Tracking: </a:t>
            </a:r>
            <a:r>
              <a:rPr lang="en-GB" sz="1200" b="0" i="0" u="none" strike="noStrike" cap="none" dirty="0">
                <a:solidFill>
                  <a:srgbClr val="000000"/>
                </a:solidFill>
                <a:latin typeface="Google Sans"/>
                <a:ea typeface="Google Sans"/>
                <a:cs typeface="Google Sans"/>
                <a:sym typeface="Google Sans"/>
              </a:rPr>
              <a:t>Completing a zone opens an Outcome Form capturing intervention type and follow-up risk re-score. Impact Page charts before/after trajectories with Recharts, giving funders quantitative evidence.
</a:t>
            </a:r>
            <a:r>
              <a:rPr lang="en-GB" sz="1200" b="1" i="0" u="none" strike="noStrike" cap="none" dirty="0">
                <a:solidFill>
                  <a:srgbClr val="000000"/>
                </a:solidFill>
                <a:latin typeface="Google Sans"/>
                <a:ea typeface="Google Sans"/>
                <a:cs typeface="Google Sans"/>
                <a:sym typeface="Google Sans"/>
              </a:rPr>
              <a:t>7. Offline-First Data Entry: </a:t>
            </a:r>
            <a:r>
              <a:rPr lang="en-GB" sz="1200" b="0" i="0" u="none" strike="noStrike" cap="none" dirty="0" err="1">
                <a:solidFill>
                  <a:srgbClr val="000000"/>
                </a:solidFill>
                <a:latin typeface="Google Sans"/>
                <a:ea typeface="Google Sans"/>
                <a:cs typeface="Google Sans"/>
                <a:sym typeface="Google Sans"/>
              </a:rPr>
              <a:t>IndexedDB</a:t>
            </a:r>
            <a:r>
              <a:rPr lang="en-GB" sz="1200" b="0" i="0" u="none" strike="noStrike" cap="none" dirty="0">
                <a:solidFill>
                  <a:srgbClr val="000000"/>
                </a:solidFill>
                <a:latin typeface="Google Sans"/>
                <a:ea typeface="Google Sans"/>
                <a:cs typeface="Google Sans"/>
                <a:sym typeface="Google Sans"/>
              </a:rPr>
              <a:t> queue caches surveys locally when connectivity is unavailable. A floating panel lists pending items and auto-syncs when the device reconnects.
</a:t>
            </a:r>
            <a:r>
              <a:rPr lang="en-GB" sz="1200" b="1" i="0" u="none" strike="noStrike" cap="none" dirty="0">
                <a:solidFill>
                  <a:srgbClr val="000000"/>
                </a:solidFill>
                <a:latin typeface="Google Sans"/>
                <a:ea typeface="Google Sans"/>
                <a:cs typeface="Google Sans"/>
                <a:sym typeface="Google Sans"/>
              </a:rPr>
              <a:t>8. Privacy-by-Design: </a:t>
            </a:r>
            <a:r>
              <a:rPr lang="en-GB" sz="1200" b="0" i="0" u="none" strike="noStrike" cap="none" dirty="0">
                <a:solidFill>
                  <a:srgbClr val="000000"/>
                </a:solidFill>
                <a:latin typeface="Google Sans"/>
                <a:ea typeface="Google Sans"/>
                <a:cs typeface="Google Sans"/>
                <a:sym typeface="Google Sans"/>
              </a:rPr>
              <a:t>Field allowlist (14 permitted fields), location coarsening to city/district, aggregation threshold, and 90-day automated data retention enforced at the service layer before every Firebase write.</a:t>
            </a:r>
            <a:endParaRPr sz="1200" b="0" i="0" u="none" strike="noStrike" cap="none" dirty="0">
              <a:solidFill>
                <a:srgbClr val="000000"/>
              </a:solidFill>
              <a:latin typeface="Google Sans"/>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0"/>
          <p:cNvSpPr txBox="1"/>
          <p:nvPr/>
        </p:nvSpPr>
        <p:spPr>
          <a:xfrm>
            <a:off x="240080" y="451634"/>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End-to-End Process Flow</a:t>
            </a:r>
          </a:p>
          <a:p>
            <a:pPr marL="0" marR="0" lvl="0" indent="0" algn="l" rtl="0">
              <a:lnSpc>
                <a:spcPct val="100000"/>
              </a:lnSpc>
              <a:spcBef>
                <a:spcPts val="0"/>
              </a:spcBef>
              <a:spcAft>
                <a:spcPts val="0"/>
              </a:spcAft>
              <a:buNone/>
            </a:pPr>
            <a:r>
              <a:rPr lang="en-GB" b="1" i="0" u="none" strike="noStrike" cap="none" dirty="0">
                <a:solidFill>
                  <a:srgbClr val="1A73E8"/>
                </a:solidFill>
                <a:latin typeface="Google Sans"/>
              </a:rPr>
              <a:t>STEP 1 → Data Collection</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Field officer uploads Bulk CSV / completes Manual Entry form / photographs handwritten survey. If offline, survey is queued in </a:t>
            </a:r>
            <a:r>
              <a:rPr lang="en-GB" b="0" i="0" u="none" strike="noStrike" cap="none" dirty="0" err="1">
                <a:solidFill>
                  <a:srgbClr val="000000"/>
                </a:solidFill>
                <a:latin typeface="Google Sans"/>
              </a:rPr>
              <a:t>IndexedDB</a:t>
            </a:r>
            <a:r>
              <a:rPr lang="en-GB" b="0" i="0" u="none" strike="noStrike" cap="none" dirty="0">
                <a:solidFill>
                  <a:srgbClr val="000000"/>
                </a:solidFill>
                <a:latin typeface="Google Sans"/>
              </a:rPr>
              <a:t> and syncs automatically on reconnect.</a:t>
            </a:r>
          </a:p>
          <a:p>
            <a:pPr marL="0" marR="0" lvl="0" indent="0" algn="l" rtl="0">
              <a:lnSpc>
                <a:spcPct val="100000"/>
              </a:lnSpc>
              <a:spcBef>
                <a:spcPts val="0"/>
              </a:spcBef>
              <a:spcAft>
                <a:spcPts val="0"/>
              </a:spcAft>
              <a:buNone/>
            </a:pPr>
            <a:r>
              <a:rPr lang="en-GB" b="1" i="0" u="none" strike="noStrike" cap="none" dirty="0">
                <a:solidFill>
                  <a:srgbClr val="1A73E8"/>
                </a:solidFill>
                <a:latin typeface="Google Sans"/>
              </a:rPr>
              <a:t>STEP 2 → AI Analysis (Firebase Cloud Functions + Gemini 2.5 Flash via Vertex AI)</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Backend pre-processes raw file (pandas), applies custom weighted rubric with mandatory override rules, returns structured JSON: { </a:t>
            </a:r>
            <a:r>
              <a:rPr lang="en-GB" b="0" i="0" u="none" strike="noStrike" cap="none" dirty="0" err="1">
                <a:solidFill>
                  <a:srgbClr val="000000"/>
                </a:solidFill>
                <a:latin typeface="Google Sans"/>
              </a:rPr>
              <a:t>risk_score</a:t>
            </a:r>
            <a:r>
              <a:rPr lang="en-GB" b="0" i="0" u="none" strike="noStrike" cap="none" dirty="0">
                <a:solidFill>
                  <a:srgbClr val="000000"/>
                </a:solidFill>
                <a:latin typeface="Google Sans"/>
              </a:rPr>
              <a:t>, explanation, </a:t>
            </a:r>
            <a:r>
              <a:rPr lang="en-GB" b="0" i="0" u="none" strike="noStrike" cap="none" dirty="0" err="1">
                <a:solidFill>
                  <a:srgbClr val="000000"/>
                </a:solidFill>
                <a:latin typeface="Google Sans"/>
              </a:rPr>
              <a:t>community_hotspot_level</a:t>
            </a:r>
            <a:r>
              <a:rPr lang="en-GB" b="0" i="0" u="none" strike="noStrike" cap="none" dirty="0">
                <a:solidFill>
                  <a:srgbClr val="000000"/>
                </a:solidFill>
                <a:latin typeface="Google Sans"/>
              </a:rPr>
              <a:t>, </a:t>
            </a:r>
            <a:r>
              <a:rPr lang="en-GB" b="0" i="0" u="none" strike="noStrike" cap="none" dirty="0" err="1">
                <a:solidFill>
                  <a:srgbClr val="000000"/>
                </a:solidFill>
                <a:latin typeface="Google Sans"/>
              </a:rPr>
              <a:t>key_factors</a:t>
            </a:r>
            <a:r>
              <a:rPr lang="en-GB" b="0" i="0" u="none" strike="noStrike" cap="none" dirty="0">
                <a:solidFill>
                  <a:srgbClr val="000000"/>
                </a:solidFill>
                <a:latin typeface="Google Sans"/>
              </a:rPr>
              <a:t>, location }.</a:t>
            </a:r>
          </a:p>
          <a:p>
            <a:pPr marL="0" marR="0" lvl="0" indent="0" algn="l" rtl="0">
              <a:lnSpc>
                <a:spcPct val="100000"/>
              </a:lnSpc>
              <a:spcBef>
                <a:spcPts val="0"/>
              </a:spcBef>
              <a:spcAft>
                <a:spcPts val="0"/>
              </a:spcAft>
              <a:buNone/>
            </a:pPr>
            <a:r>
              <a:rPr lang="en-GB" b="1" i="0" u="none" strike="noStrike" cap="none" dirty="0">
                <a:solidFill>
                  <a:srgbClr val="1A73E8"/>
                </a:solidFill>
                <a:latin typeface="Google Sans"/>
              </a:rPr>
              <a:t>STEP 3 → Privacy Sanitization + Geocoding</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Frontend allowlist-sanitizes the result (14 permitted fields, location coarsened to city/district), then geocodes the address string via Google Maps Geocoding API to obtain </a:t>
            </a:r>
            <a:r>
              <a:rPr lang="en-GB" b="0" i="0" u="none" strike="noStrike" cap="none" dirty="0" err="1">
                <a:solidFill>
                  <a:srgbClr val="000000"/>
                </a:solidFill>
                <a:latin typeface="Google Sans"/>
              </a:rPr>
              <a:t>lat</a:t>
            </a:r>
            <a:r>
              <a:rPr lang="en-GB" b="0" i="0" u="none" strike="noStrike" cap="none" dirty="0">
                <a:solidFill>
                  <a:srgbClr val="000000"/>
                </a:solidFill>
                <a:latin typeface="Google Sans"/>
              </a:rPr>
              <a:t>/</a:t>
            </a:r>
            <a:r>
              <a:rPr lang="en-GB" b="0" i="0" u="none" strike="noStrike" cap="none" dirty="0" err="1">
                <a:solidFill>
                  <a:srgbClr val="000000"/>
                </a:solidFill>
                <a:latin typeface="Google Sans"/>
              </a:rPr>
              <a:t>lng</a:t>
            </a:r>
            <a:r>
              <a:rPr lang="en-GB" b="0" i="0" u="none" strike="noStrike" cap="none" dirty="0">
                <a:solidFill>
                  <a:srgbClr val="000000"/>
                </a:solidFill>
                <a:latin typeface="Google Sans"/>
              </a:rPr>
              <a:t>. Record is written to Firebase only if GPS coordinates are resolved.</a:t>
            </a:r>
          </a:p>
          <a:p>
            <a:pPr marL="0" marR="0" lvl="0" indent="0" algn="l" rtl="0">
              <a:lnSpc>
                <a:spcPct val="100000"/>
              </a:lnSpc>
              <a:spcBef>
                <a:spcPts val="0"/>
              </a:spcBef>
              <a:spcAft>
                <a:spcPts val="0"/>
              </a:spcAft>
              <a:buNone/>
            </a:pPr>
            <a:r>
              <a:rPr lang="en-GB" b="1" i="0" u="none" strike="noStrike" cap="none" dirty="0">
                <a:solidFill>
                  <a:srgbClr val="1A73E8"/>
                </a:solidFill>
                <a:latin typeface="Google Sans"/>
              </a:rPr>
              <a:t>STEP 4 → Heatmap Visualization + Zone Deployment</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Supervisor views live heatmap (</a:t>
            </a:r>
            <a:r>
              <a:rPr lang="en-GB" b="0" i="0" u="none" strike="noStrike" cap="none" dirty="0" err="1">
                <a:solidFill>
                  <a:srgbClr val="000000"/>
                </a:solidFill>
                <a:latin typeface="Google Sans"/>
              </a:rPr>
              <a:t>risk_score</a:t>
            </a:r>
            <a:r>
              <a:rPr lang="en-GB" b="0" i="0" u="none" strike="noStrike" cap="none" dirty="0">
                <a:solidFill>
                  <a:srgbClr val="000000"/>
                </a:solidFill>
                <a:latin typeface="Google Sans"/>
              </a:rPr>
              <a:t> as weight), draws deployment rectangle via </a:t>
            </a:r>
            <a:r>
              <a:rPr lang="en-GB" b="0" i="0" u="none" strike="noStrike" cap="none" dirty="0" err="1">
                <a:solidFill>
                  <a:srgbClr val="000000"/>
                </a:solidFill>
                <a:latin typeface="Google Sans"/>
              </a:rPr>
              <a:t>DrawingManager</a:t>
            </a:r>
            <a:r>
              <a:rPr lang="en-GB" b="0" i="0" u="none" strike="noStrike" cap="none" dirty="0">
                <a:solidFill>
                  <a:srgbClr val="000000"/>
                </a:solidFill>
                <a:latin typeface="Google Sans"/>
              </a:rPr>
              <a:t>, selects team members. Gemini evaluates the zone’s crime context and attaches a location risk score. Assignment written to Firebase; all connected clients sync via </a:t>
            </a:r>
            <a:r>
              <a:rPr lang="en-GB" b="0" i="0" u="none" strike="noStrike" cap="none" dirty="0" err="1">
                <a:solidFill>
                  <a:srgbClr val="000000"/>
                </a:solidFill>
                <a:latin typeface="Google Sans"/>
              </a:rPr>
              <a:t>onValue</a:t>
            </a:r>
            <a:r>
              <a:rPr lang="en-GB" b="0" i="0" u="none" strike="noStrike" cap="none" dirty="0">
                <a:solidFill>
                  <a:srgbClr val="000000"/>
                </a:solidFill>
                <a:latin typeface="Google Sans"/>
              </a:rPr>
              <a:t> listener.</a:t>
            </a:r>
          </a:p>
          <a:p>
            <a:pPr marL="0" marR="0" lvl="0" indent="0" algn="l" rtl="0">
              <a:lnSpc>
                <a:spcPct val="100000"/>
              </a:lnSpc>
              <a:spcBef>
                <a:spcPts val="0"/>
              </a:spcBef>
              <a:spcAft>
                <a:spcPts val="0"/>
              </a:spcAft>
              <a:buNone/>
            </a:pPr>
            <a:r>
              <a:rPr lang="en-GB" b="1" i="0" u="none" strike="noStrike" cap="none" dirty="0">
                <a:solidFill>
                  <a:srgbClr val="1A73E8"/>
                </a:solidFill>
                <a:latin typeface="Google Sans"/>
              </a:rPr>
              <a:t>STEP 5 → Intervention + Outcome Recording</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Field team completes intervention. Supervisor marks zone done, records intervention type and follow-up risk re-score. Impact Page renders before/after line chart proving measurable vulnerability reduction over time.</a:t>
            </a:r>
            <a:endParaRPr b="0" i="0" u="none" strike="noStrike" cap="none" dirty="0">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1"/>
          <p:cNvSpPr txBox="1"/>
          <p:nvPr/>
        </p:nvSpPr>
        <p:spPr>
          <a:xfrm>
            <a:off x="207700" y="879650"/>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Platform Screens — Key UI Flows</a:t>
            </a:r>
          </a:p>
          <a:p>
            <a:pPr marL="0" marR="0" lvl="0" indent="0" algn="l" rtl="0">
              <a:lnSpc>
                <a:spcPct val="100000"/>
              </a:lnSpc>
              <a:spcBef>
                <a:spcPts val="0"/>
              </a:spcBef>
              <a:spcAft>
                <a:spcPts val="0"/>
              </a:spcAft>
              <a:buNone/>
            </a:pPr>
            <a:r>
              <a:rPr lang="en-GB" b="1" i="0" u="none" strike="noStrike" cap="none" dirty="0">
                <a:solidFill>
                  <a:srgbClr val="000000"/>
                </a:solidFill>
                <a:latin typeface="Google Sans"/>
              </a:rPr>
              <a:t>Landing Page:</a:t>
            </a:r>
            <a:r>
              <a:rPr lang="en-GB" b="0" i="0" u="none" strike="noStrike" cap="none" dirty="0">
                <a:solidFill>
                  <a:srgbClr val="000000"/>
                </a:solidFill>
                <a:latin typeface="Google Sans"/>
              </a:rPr>
              <a:t> Brutalist design with hero headline “Field Intelligence. Mapped.”, scrolling stats ticker, 4-step process timeline, features grid, tech stack, and CTA.</a:t>
            </a:r>
          </a:p>
          <a:p>
            <a:pPr marL="0" marR="0" lvl="0" indent="0" algn="l" rtl="0">
              <a:lnSpc>
                <a:spcPct val="100000"/>
              </a:lnSpc>
              <a:spcBef>
                <a:spcPts val="0"/>
              </a:spcBef>
              <a:spcAft>
                <a:spcPts val="0"/>
              </a:spcAft>
              <a:buNone/>
            </a:pPr>
            <a:r>
              <a:rPr lang="en-GB" b="1" i="0" u="none" strike="noStrike" cap="none" dirty="0">
                <a:solidFill>
                  <a:srgbClr val="000000"/>
                </a:solidFill>
                <a:latin typeface="Google Sans"/>
              </a:rPr>
              <a:t>Dashboard:</a:t>
            </a:r>
            <a:r>
              <a:rPr lang="en-GB" b="0" i="0" u="none" strike="noStrike" cap="none" dirty="0">
                <a:solidFill>
                  <a:srgbClr val="000000"/>
                </a:solidFill>
                <a:latin typeface="Google Sans"/>
              </a:rPr>
              <a:t> Live ops clock, systems status bar, personalised greeting, 5-module grid (Team Management, Risk Explorer, Ingest Data, Active Deployments, Impact Timeline).</a:t>
            </a:r>
          </a:p>
          <a:p>
            <a:pPr marL="0" marR="0" lvl="0" indent="0" algn="l" rtl="0">
              <a:lnSpc>
                <a:spcPct val="100000"/>
              </a:lnSpc>
              <a:spcBef>
                <a:spcPts val="0"/>
              </a:spcBef>
              <a:spcAft>
                <a:spcPts val="0"/>
              </a:spcAft>
              <a:buNone/>
            </a:pPr>
            <a:r>
              <a:rPr lang="en-GB" b="1" i="0" u="none" strike="noStrike" cap="none" dirty="0">
                <a:solidFill>
                  <a:srgbClr val="000000"/>
                </a:solidFill>
                <a:latin typeface="Google Sans"/>
              </a:rPr>
              <a:t>Onboarding / Data Ingestion:</a:t>
            </a:r>
            <a:r>
              <a:rPr lang="en-GB" b="0" i="0" u="none" strike="noStrike" cap="none" dirty="0">
                <a:solidFill>
                  <a:srgbClr val="000000"/>
                </a:solidFill>
                <a:latin typeface="Google Sans"/>
              </a:rPr>
              <a:t> Three-tab interface (Bulk CSV, Manual Entry, Photo Upload). Manual Entry spans 5 sub-forms. After Gemini analysis, </a:t>
            </a:r>
            <a:r>
              <a:rPr lang="en-GB" b="0" i="0" u="none" strike="noStrike" cap="none" dirty="0" err="1">
                <a:solidFill>
                  <a:srgbClr val="000000"/>
                </a:solidFill>
                <a:latin typeface="Google Sans"/>
              </a:rPr>
              <a:t>AnalysisResultUI</a:t>
            </a:r>
            <a:r>
              <a:rPr lang="en-GB" b="0" i="0" u="none" strike="noStrike" cap="none" dirty="0">
                <a:solidFill>
                  <a:srgbClr val="000000"/>
                </a:solidFill>
                <a:latin typeface="Google Sans"/>
              </a:rPr>
              <a:t> displays risk score, hotspot level, explanation, and “Saved to Ops Map” / “Local Display Only” status.</a:t>
            </a:r>
          </a:p>
          <a:p>
            <a:pPr marL="0" marR="0" lvl="0" indent="0" algn="l" rtl="0">
              <a:lnSpc>
                <a:spcPct val="100000"/>
              </a:lnSpc>
              <a:spcBef>
                <a:spcPts val="0"/>
              </a:spcBef>
              <a:spcAft>
                <a:spcPts val="0"/>
              </a:spcAft>
              <a:buNone/>
            </a:pPr>
            <a:r>
              <a:rPr lang="en-GB" b="1" i="0" u="none" strike="noStrike" cap="none" dirty="0">
                <a:solidFill>
                  <a:srgbClr val="000000"/>
                </a:solidFill>
                <a:latin typeface="Google Sans"/>
              </a:rPr>
              <a:t>Explore (Ops Map):</a:t>
            </a:r>
            <a:r>
              <a:rPr lang="en-GB" b="0" i="0" u="none" strike="noStrike" cap="none" dirty="0">
                <a:solidFill>
                  <a:srgbClr val="000000"/>
                </a:solidFill>
                <a:latin typeface="Google Sans"/>
              </a:rPr>
              <a:t> Full-bleed dark map with floating search bar, Pan/Draw Zone toolbar, live status pill, heatmap overlay, and assignment modal with multi-select team member dropdown.</a:t>
            </a:r>
          </a:p>
          <a:p>
            <a:pPr lvl="0"/>
            <a:r>
              <a:rPr lang="en-GB" b="1" dirty="0">
                <a:latin typeface="Google Sans"/>
              </a:rPr>
              <a:t>Active Deployments</a:t>
            </a:r>
            <a:r>
              <a:rPr lang="en-GB" b="1" i="0" u="none" strike="noStrike" cap="none" dirty="0">
                <a:solidFill>
                  <a:srgbClr val="000000"/>
                </a:solidFill>
                <a:latin typeface="Google Sans"/>
              </a:rPr>
              <a:t> (Deployment Manager):</a:t>
            </a:r>
            <a:r>
              <a:rPr lang="en-GB" b="0" i="0" u="none" strike="noStrike" cap="none" dirty="0">
                <a:solidFill>
                  <a:srgbClr val="000000"/>
                </a:solidFill>
                <a:latin typeface="Google Sans"/>
              </a:rPr>
              <a:t> Split-panel: accordion zone list (weighted risk score, intersected profiles, AI intel fields, notes) + sticky dark map showing all drawn rectangles. Completing a zone opens the Intervention Outcome modal.</a:t>
            </a:r>
          </a:p>
          <a:p>
            <a:pPr marL="0" marR="0" lvl="0" indent="0" algn="l" rtl="0">
              <a:lnSpc>
                <a:spcPct val="100000"/>
              </a:lnSpc>
              <a:spcBef>
                <a:spcPts val="0"/>
              </a:spcBef>
              <a:spcAft>
                <a:spcPts val="0"/>
              </a:spcAft>
              <a:buNone/>
            </a:pPr>
            <a:r>
              <a:rPr lang="en-GB" b="1" i="0" u="none" strike="noStrike" cap="none" dirty="0">
                <a:solidFill>
                  <a:srgbClr val="000000"/>
                </a:solidFill>
                <a:latin typeface="Google Sans"/>
              </a:rPr>
              <a:t>Impact Page:</a:t>
            </a:r>
            <a:r>
              <a:rPr lang="en-GB" b="0" i="0" u="none" strike="noStrike" cap="none" dirty="0">
                <a:solidFill>
                  <a:srgbClr val="000000"/>
                </a:solidFill>
                <a:latin typeface="Google Sans"/>
              </a:rPr>
              <a:t> 4 stat cards (zones completed, interventions, </a:t>
            </a:r>
            <a:r>
              <a:rPr lang="en-GB" b="0" i="0" u="none" strike="noStrike" cap="none" dirty="0" err="1">
                <a:solidFill>
                  <a:srgbClr val="000000"/>
                </a:solidFill>
                <a:latin typeface="Google Sans"/>
              </a:rPr>
              <a:t>avg</a:t>
            </a:r>
            <a:r>
              <a:rPr lang="en-GB" b="0" i="0" u="none" strike="noStrike" cap="none" dirty="0">
                <a:solidFill>
                  <a:srgbClr val="000000"/>
                </a:solidFill>
                <a:latin typeface="Google Sans"/>
              </a:rPr>
              <a:t> reduction, zones improved) + Recharts before/after line chart + intervention type bar chart + full records table with Δ score column.</a:t>
            </a:r>
            <a:endParaRPr b="0" i="0" u="none" strike="noStrike" cap="none" dirty="0">
              <a:solidFill>
                <a:srgbClr val="000000"/>
              </a:solidFill>
              <a:latin typeface="Google Sans"/>
              <a:ea typeface="Google Sans"/>
              <a:cs typeface="Google Sans"/>
              <a:sym typeface="Google Sans"/>
            </a:endParaRPr>
          </a:p>
        </p:txBody>
      </p:sp>
      <p:pic>
        <p:nvPicPr>
          <p:cNvPr id="140" name="Google Shape;140;p31"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2"/>
          <p:cNvSpPr txBox="1"/>
          <p:nvPr/>
        </p:nvSpPr>
        <p:spPr>
          <a:xfrm>
            <a:off x="171050" y="867425"/>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System Architecture</a:t>
            </a:r>
          </a:p>
          <a:p>
            <a:pPr marL="0" marR="0" lvl="0" indent="0" algn="l" rtl="0">
              <a:lnSpc>
                <a:spcPct val="100000"/>
              </a:lnSpc>
              <a:spcBef>
                <a:spcPts val="0"/>
              </a:spcBef>
              <a:spcAft>
                <a:spcPts val="0"/>
              </a:spcAft>
              <a:buNone/>
            </a:pPr>
            <a:r>
              <a:rPr lang="en-GB" sz="1200" b="1" i="0" u="none" strike="noStrike" cap="none" dirty="0">
                <a:solidFill>
                  <a:srgbClr val="1A73E8"/>
                </a:solidFill>
                <a:latin typeface="Google Sans"/>
              </a:rPr>
              <a:t>CLIENT LAYER (React + TypeScript, Firebase Hosting)</a:t>
            </a:r>
          </a:p>
          <a:p>
            <a:pPr marL="457200" lvl="0"/>
            <a:r>
              <a:rPr lang="en-GB" sz="1200" b="0" i="0" u="none" strike="noStrike" cap="none" dirty="0">
                <a:solidFill>
                  <a:srgbClr val="000000"/>
                </a:solidFill>
                <a:latin typeface="Google Sans"/>
              </a:rPr>
              <a:t>Pages: Landing, Sign-In (Google OAuth), Dashboard, Onboarding (3 ingestion modes), Explore Map, </a:t>
            </a:r>
            <a:r>
              <a:rPr lang="en-GB" sz="1200" b="0" i="0" u="none" strike="noStrike" cap="none" dirty="0" err="1">
                <a:solidFill>
                  <a:srgbClr val="000000"/>
                </a:solidFill>
                <a:latin typeface="Google Sans"/>
              </a:rPr>
              <a:t>ActiveDeployments</a:t>
            </a:r>
            <a:r>
              <a:rPr lang="en-GB" sz="1200" b="0" i="0" u="none" strike="noStrike" cap="none" dirty="0">
                <a:solidFill>
                  <a:srgbClr val="000000"/>
                </a:solidFill>
                <a:latin typeface="Google Sans"/>
              </a:rPr>
              <a:t>, Team Management, Impact Timeline, 404. Services: </a:t>
            </a:r>
            <a:r>
              <a:rPr lang="en-GB" sz="1200" b="0" i="0" u="none" strike="noStrike" cap="none" dirty="0" err="1">
                <a:solidFill>
                  <a:srgbClr val="000000"/>
                </a:solidFill>
                <a:latin typeface="Google Sans"/>
              </a:rPr>
              <a:t>OfflineSyncService</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IndexedDB</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PrivacyService</a:t>
            </a:r>
            <a:r>
              <a:rPr lang="en-GB" sz="1200" b="0" i="0" u="none" strike="noStrike" cap="none" dirty="0">
                <a:solidFill>
                  <a:srgbClr val="000000"/>
                </a:solidFill>
                <a:latin typeface="Google Sans"/>
              </a:rPr>
              <a:t> (sanitize / threshold / retention), </a:t>
            </a:r>
            <a:r>
              <a:rPr lang="en-IN" sz="1200" dirty="0" err="1"/>
              <a:t>SurveyService</a:t>
            </a:r>
            <a:r>
              <a:rPr lang="en-GB" sz="1200" b="0" i="0" u="none" strike="noStrike" cap="none" dirty="0">
                <a:solidFill>
                  <a:srgbClr val="000000"/>
                </a:solidFill>
                <a:latin typeface="Google Sans"/>
              </a:rPr>
              <a:t> (Firebase write). Components: </a:t>
            </a:r>
            <a:r>
              <a:rPr lang="en-GB" sz="1200" b="0" i="0" u="none" strike="noStrike" cap="none" dirty="0" err="1">
                <a:solidFill>
                  <a:srgbClr val="000000"/>
                </a:solidFill>
                <a:latin typeface="Google Sans"/>
              </a:rPr>
              <a:t>KithCursor</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OfflineQueuePanel</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InterventionOutcomeModal</a:t>
            </a:r>
            <a:r>
              <a:rPr lang="en-GB" sz="1200" b="0" i="0" u="none" strike="noStrike" cap="none" dirty="0">
                <a:solidFill>
                  <a:srgbClr val="000000"/>
                </a:solidFill>
                <a:latin typeface="Google Sans"/>
              </a:rPr>
              <a:t>, </a:t>
            </a:r>
            <a:r>
              <a:rPr lang="en-GB" sz="1200" dirty="0" err="1">
                <a:latin typeface="Google Sans"/>
              </a:rPr>
              <a:t>ActiveDeploymentsCard</a:t>
            </a:r>
            <a:r>
              <a:rPr lang="en-GB" sz="1200" b="0" i="0" u="none" strike="noStrike" cap="none" dirty="0">
                <a:solidFill>
                  <a:srgbClr val="000000"/>
                </a:solidFill>
                <a:latin typeface="Google Sans"/>
              </a:rPr>
              <a:t> (weighted aggregation).</a:t>
            </a:r>
          </a:p>
          <a:p>
            <a:pPr marL="0" marR="0" lvl="0" indent="0" algn="l" rtl="0">
              <a:lnSpc>
                <a:spcPct val="100000"/>
              </a:lnSpc>
              <a:spcBef>
                <a:spcPts val="0"/>
              </a:spcBef>
              <a:spcAft>
                <a:spcPts val="0"/>
              </a:spcAft>
              <a:buNone/>
            </a:pPr>
            <a:r>
              <a:rPr lang="en-GB" sz="1200" b="1" i="0" u="none" strike="noStrike" cap="none" dirty="0">
                <a:solidFill>
                  <a:srgbClr val="1A73E8"/>
                </a:solidFill>
                <a:latin typeface="Google Sans"/>
              </a:rPr>
              <a:t>API LAYER (Python 3.12 / Firebase Cloud Functions, Vertex AI auth)</a:t>
            </a:r>
          </a:p>
          <a:p>
            <a:pPr marL="457200" marR="0" lvl="0" indent="0" algn="l" rtl="0">
              <a:lnSpc>
                <a:spcPct val="100000"/>
              </a:lnSpc>
              <a:spcBef>
                <a:spcPts val="0"/>
              </a:spcBef>
              <a:spcAft>
                <a:spcPts val="0"/>
              </a:spcAft>
              <a:buNone/>
            </a:pPr>
            <a:r>
              <a:rPr lang="en-GB" sz="1200" b="0" i="0" u="none" strike="noStrike" cap="none" dirty="0">
                <a:solidFill>
                  <a:srgbClr val="000000"/>
                </a:solidFill>
                <a:latin typeface="Google Sans"/>
              </a:rPr>
              <a:t>Functions: bulkUpload (pandas CSV/Excel parse → Gemini), analyzeSurvey (text or image → Gemini), analyzeEconomy (location → economic profile), analyzeMapCrime (coordinates → risk score), bulkUploadTeam (AI name/role extraction). Auth: Firebase ID token required on all Gemini endpoints; per-user daily rate limiting via Firestore. Core: google-genai SDK calls Gemini 2.5 Flash via Vertex AI with retry logic (DeadlineExceeded, ResourceExhausted, JSONDecodeError).</a:t>
            </a:r>
          </a:p>
          <a:p>
            <a:pPr marL="0" marR="0" lvl="0" indent="0" algn="l" rtl="0">
              <a:lnSpc>
                <a:spcPct val="100000"/>
              </a:lnSpc>
              <a:spcBef>
                <a:spcPts val="0"/>
              </a:spcBef>
              <a:spcAft>
                <a:spcPts val="0"/>
              </a:spcAft>
              <a:buNone/>
            </a:pPr>
            <a:r>
              <a:rPr lang="en-GB" sz="1200" b="1" i="0" u="none" strike="noStrike" cap="none" dirty="0">
                <a:solidFill>
                  <a:srgbClr val="1A73E8"/>
                </a:solidFill>
                <a:latin typeface="Google Sans"/>
              </a:rPr>
              <a:t>DATA LAYER (Firebase Realtime Database — per-user isolation)</a:t>
            </a:r>
          </a:p>
          <a:p>
            <a:pPr marL="457200" marR="0" lvl="0" indent="0" algn="l" rtl="0">
              <a:lnSpc>
                <a:spcPct val="100000"/>
              </a:lnSpc>
              <a:spcBef>
                <a:spcPts val="0"/>
              </a:spcBef>
              <a:spcAft>
                <a:spcPts val="0"/>
              </a:spcAft>
              <a:buNone/>
            </a:pPr>
            <a:r>
              <a:rPr lang="en-GB" sz="1200" b="0" i="0" u="none" strike="noStrike" cap="none" dirty="0">
                <a:solidFill>
                  <a:srgbClr val="000000"/>
                </a:solidFill>
                <a:latin typeface="Google Sans"/>
              </a:rPr>
              <a:t>Paths: users/{</a:t>
            </a:r>
            <a:r>
              <a:rPr lang="en-GB" sz="1200" b="0" i="0" u="none" strike="noStrike" cap="none" dirty="0" err="1">
                <a:solidFill>
                  <a:srgbClr val="000000"/>
                </a:solidFill>
                <a:latin typeface="Google Sans"/>
              </a:rPr>
              <a:t>uid</a:t>
            </a:r>
            <a:r>
              <a:rPr lang="en-GB" sz="1200" b="0" i="0" u="none" strike="noStrike" cap="none" dirty="0">
                <a:solidFill>
                  <a:srgbClr val="000000"/>
                </a:solidFill>
                <a:latin typeface="Google Sans"/>
              </a:rPr>
              <a:t>}/</a:t>
            </a:r>
            <a:r>
              <a:rPr lang="en-GB" sz="1200" b="0" i="0" u="none" strike="noStrike" cap="none" dirty="0" err="1">
                <a:solidFill>
                  <a:srgbClr val="000000"/>
                </a:solidFill>
                <a:latin typeface="Google Sans"/>
              </a:rPr>
              <a:t>onboardingData</a:t>
            </a:r>
            <a:r>
              <a:rPr lang="en-GB" sz="1200" b="0" i="0" u="none" strike="noStrike" cap="none" dirty="0">
                <a:solidFill>
                  <a:srgbClr val="000000"/>
                </a:solidFill>
                <a:latin typeface="Google Sans"/>
              </a:rPr>
              <a:t> (sanitized survey records with </a:t>
            </a:r>
            <a:r>
              <a:rPr lang="en-GB" sz="1200" b="0" i="0" u="none" strike="noStrike" cap="none" dirty="0" err="1">
                <a:solidFill>
                  <a:srgbClr val="000000"/>
                </a:solidFill>
                <a:latin typeface="Google Sans"/>
              </a:rPr>
              <a:t>lat</a:t>
            </a:r>
            <a:r>
              <a:rPr lang="en-GB" sz="1200" b="0" i="0" u="none" strike="noStrike" cap="none" dirty="0">
                <a:solidFill>
                  <a:srgbClr val="000000"/>
                </a:solidFill>
                <a:latin typeface="Google Sans"/>
              </a:rPr>
              <a:t>/</a:t>
            </a:r>
            <a:r>
              <a:rPr lang="en-GB" sz="1200" b="0" i="0" u="none" strike="noStrike" cap="none" dirty="0" err="1">
                <a:solidFill>
                  <a:srgbClr val="000000"/>
                </a:solidFill>
                <a:latin typeface="Google Sans"/>
              </a:rPr>
              <a:t>lng</a:t>
            </a:r>
            <a:r>
              <a:rPr lang="en-GB" sz="1200" b="0" i="0" u="none" strike="noStrike" cap="none" dirty="0">
                <a:solidFill>
                  <a:srgbClr val="000000"/>
                </a:solidFill>
                <a:latin typeface="Google Sans"/>
              </a:rPr>
              <a:t>/</a:t>
            </a:r>
            <a:r>
              <a:rPr lang="en-GB" sz="1200" b="0" i="0" u="none" strike="noStrike" cap="none" dirty="0" err="1">
                <a:solidFill>
                  <a:srgbClr val="000000"/>
                </a:solidFill>
                <a:latin typeface="Google Sans"/>
              </a:rPr>
              <a:t>risk_score</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teamAssignments</a:t>
            </a:r>
            <a:r>
              <a:rPr lang="en-GB" sz="1200" b="0" i="0" u="none" strike="noStrike" cap="none" dirty="0">
                <a:solidFill>
                  <a:srgbClr val="000000"/>
                </a:solidFill>
                <a:latin typeface="Google Sans"/>
              </a:rPr>
              <a:t> (zone rectangles + </a:t>
            </a:r>
            <a:r>
              <a:rPr lang="en-GB" sz="1200" b="0" i="0" u="none" strike="noStrike" cap="none" dirty="0" err="1">
                <a:solidFill>
                  <a:srgbClr val="000000"/>
                </a:solidFill>
                <a:latin typeface="Google Sans"/>
              </a:rPr>
              <a:t>crimeScore</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teamMembers</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interventionHistory</a:t>
            </a:r>
            <a:r>
              <a:rPr lang="en-GB" sz="1200" b="0" i="0" u="none" strike="noStrike" cap="none" dirty="0">
                <a:solidFill>
                  <a:srgbClr val="000000"/>
                </a:solidFill>
                <a:latin typeface="Google Sans"/>
              </a:rPr>
              <a:t> (before/after scores for Impact chart), /</a:t>
            </a:r>
            <a:r>
              <a:rPr lang="en-GB" sz="1200" b="0" i="0" u="none" strike="noStrike" cap="none" dirty="0" err="1">
                <a:solidFill>
                  <a:srgbClr val="000000"/>
                </a:solidFill>
                <a:latin typeface="Google Sans"/>
              </a:rPr>
              <a:t>assignmentHistory</a:t>
            </a:r>
            <a:r>
              <a:rPr lang="en-GB" sz="1200" b="0" i="0" u="none" strike="noStrike" cap="none" dirty="0">
                <a:solidFill>
                  <a:srgbClr val="000000"/>
                </a:solidFill>
                <a:latin typeface="Google Sans"/>
              </a:rPr>
              <a:t> (archived zones). Security rules enforce per-UID read/write isolation.</a:t>
            </a:r>
          </a:p>
          <a:p>
            <a:pPr marL="0" marR="0" lvl="0" indent="0" algn="l" rtl="0">
              <a:lnSpc>
                <a:spcPct val="100000"/>
              </a:lnSpc>
              <a:spcBef>
                <a:spcPts val="0"/>
              </a:spcBef>
              <a:spcAft>
                <a:spcPts val="0"/>
              </a:spcAft>
              <a:buNone/>
            </a:pPr>
            <a:r>
              <a:rPr lang="en-GB" sz="1200" b="1" i="0" u="none" strike="noStrike" cap="none" dirty="0">
                <a:solidFill>
                  <a:srgbClr val="1A73E8"/>
                </a:solidFill>
                <a:latin typeface="Google Sans"/>
              </a:rPr>
              <a:t>GOOGLE SERVICES USED</a:t>
            </a:r>
          </a:p>
          <a:p>
            <a:pPr marL="457200" marR="0" lvl="0" indent="0" algn="l" rtl="0">
              <a:lnSpc>
                <a:spcPct val="100000"/>
              </a:lnSpc>
              <a:spcBef>
                <a:spcPts val="0"/>
              </a:spcBef>
              <a:spcAft>
                <a:spcPts val="0"/>
              </a:spcAft>
              <a:buNone/>
            </a:pPr>
            <a:r>
              <a:rPr lang="en-GB" sz="1200" b="0" i="0" u="none" strike="noStrike" cap="none" dirty="0">
                <a:solidFill>
                  <a:srgbClr val="000000"/>
                </a:solidFill>
                <a:latin typeface="Google Sans"/>
              </a:rPr>
              <a:t>Gemini 2.5 Flash via Vertex AI (AI core), Maps JavaScript API + Visualization (heatmap), Drawing Manager (zone creation), Geocoding API (address → GPS), Places Autocomplete (search), Firebase Auth (OAuth), Firebase Realtime Database (data layer), Firebase Cloud Functions (backend), Firebase Hosting (frontend), Firestore (rate limiting).</a:t>
            </a:r>
            <a:endParaRPr sz="1200" b="0" i="0" u="none" strike="noStrike" cap="none" dirty="0">
              <a:solidFill>
                <a:srgbClr val="000000"/>
              </a:solidFill>
              <a:latin typeface="Google Sans"/>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Technologies Used</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Frontend: </a:t>
            </a:r>
            <a:r>
              <a:rPr lang="en-GB" sz="1600" b="0" i="0" u="none" strike="noStrike" cap="none" dirty="0">
                <a:solidFill>
                  <a:srgbClr val="000000"/>
                </a:solidFill>
                <a:latin typeface="Google Sans"/>
              </a:rPr>
              <a:t>React 18, TypeScript, Framer Motion, Recharts, @react-google-maps/api, </a:t>
            </a:r>
            <a:r>
              <a:rPr lang="en-GB" sz="1600" b="0" i="0" u="none" strike="noStrike" cap="none" dirty="0">
                <a:solidFill>
                  <a:schemeClr val="accent1"/>
                </a:solidFill>
                <a:latin typeface="Google Sans"/>
              </a:rPr>
              <a:t>Firebase SDK v10</a:t>
            </a:r>
            <a:r>
              <a:rPr lang="en-GB" sz="1600" b="0" i="0" u="none" strike="noStrike" cap="none" dirty="0">
                <a:solidFill>
                  <a:srgbClr val="000000"/>
                </a:solidFill>
                <a:latin typeface="Google Sans"/>
              </a:rPr>
              <a:t>, </a:t>
            </a:r>
            <a:r>
              <a:rPr lang="en-GB" sz="1600" b="0" i="0" u="none" strike="noStrike" cap="none" dirty="0" err="1">
                <a:solidFill>
                  <a:srgbClr val="000000"/>
                </a:solidFill>
                <a:latin typeface="Google Sans"/>
              </a:rPr>
              <a:t>IndexedDB</a:t>
            </a:r>
            <a:r>
              <a:rPr lang="en-GB" sz="1600" b="0" i="0" u="none" strike="noStrike" cap="none" dirty="0">
                <a:solidFill>
                  <a:srgbClr val="000000"/>
                </a:solidFill>
                <a:latin typeface="Google Sans"/>
              </a:rPr>
              <a:t> (offline queue)</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Backend: </a:t>
            </a:r>
            <a:r>
              <a:rPr lang="en-GB" sz="1600" b="0" i="0" u="none" strike="noStrike" cap="none" dirty="0">
                <a:solidFill>
                  <a:srgbClr val="000000"/>
                </a:solidFill>
                <a:latin typeface="Google Sans"/>
              </a:rPr>
              <a:t>Python 3.12, </a:t>
            </a:r>
            <a:r>
              <a:rPr lang="en-GB" sz="1600" b="0" i="0" u="none" strike="noStrike" cap="none" dirty="0">
                <a:solidFill>
                  <a:schemeClr val="accent1"/>
                </a:solidFill>
                <a:latin typeface="Google Sans"/>
              </a:rPr>
              <a:t>Firebase Cloud Functions</a:t>
            </a:r>
            <a:r>
              <a:rPr lang="en-GB" sz="1600" b="0" i="0" u="none" strike="noStrike" cap="none" dirty="0">
                <a:solidFill>
                  <a:srgbClr val="000000"/>
                </a:solidFill>
                <a:latin typeface="Google Sans"/>
              </a:rPr>
              <a:t>, pandas, </a:t>
            </a:r>
            <a:r>
              <a:rPr lang="en-GB" sz="1600" b="0" i="0" u="none" strike="noStrike" cap="none" dirty="0" err="1">
                <a:solidFill>
                  <a:srgbClr val="000000"/>
                </a:solidFill>
                <a:latin typeface="Google Sans"/>
              </a:rPr>
              <a:t>openpyxl</a:t>
            </a:r>
            <a:r>
              <a:rPr lang="en-GB" sz="1600" b="0" i="0" u="none" strike="noStrike" cap="none" dirty="0">
                <a:solidFill>
                  <a:srgbClr val="000000"/>
                </a:solidFill>
                <a:latin typeface="Google Sans"/>
              </a:rPr>
              <a:t>, </a:t>
            </a:r>
            <a:r>
              <a:rPr lang="en-GB" sz="1600" b="0" i="0" u="none" strike="noStrike" cap="none" dirty="0">
                <a:solidFill>
                  <a:srgbClr val="FF0000"/>
                </a:solidFill>
                <a:latin typeface="Google Sans"/>
              </a:rPr>
              <a:t>google-</a:t>
            </a:r>
            <a:r>
              <a:rPr lang="en-GB" sz="1600" b="0" i="0" u="none" strike="noStrike" cap="none" dirty="0" err="1">
                <a:solidFill>
                  <a:srgbClr val="FF0000"/>
                </a:solidFill>
                <a:latin typeface="Google Sans"/>
              </a:rPr>
              <a:t>genai</a:t>
            </a:r>
            <a:r>
              <a:rPr lang="en-GB" sz="1600" b="0" i="0" u="none" strike="noStrike" cap="none" dirty="0">
                <a:solidFill>
                  <a:srgbClr val="FF0000"/>
                </a:solidFill>
                <a:latin typeface="Google Sans"/>
              </a:rPr>
              <a:t> SDK (new)</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Google AI: </a:t>
            </a:r>
            <a:r>
              <a:rPr lang="en-GB" sz="1600" b="0" i="0" u="none" strike="noStrike" cap="none" dirty="0">
                <a:solidFill>
                  <a:srgbClr val="000000"/>
                </a:solidFill>
                <a:latin typeface="Google Sans"/>
              </a:rPr>
              <a:t>Gemini 2.5 Flash — risk scoring (text), visual survey extraction (multimodal image), economic analysis, crime context analysis</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Google Maps Platform: </a:t>
            </a:r>
            <a:r>
              <a:rPr lang="en-GB" sz="1600" b="0" i="0" u="none" strike="noStrike" cap="none" dirty="0">
                <a:solidFill>
                  <a:srgbClr val="000000"/>
                </a:solidFill>
                <a:latin typeface="Google Sans"/>
              </a:rPr>
              <a:t>Maps JavaScript API, Visualization API (HeatmapLayer), Drawing Manager (zone rectangles), Geocoding API (address → GPS), Places Autocomplete</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Firebase: </a:t>
            </a:r>
            <a:r>
              <a:rPr lang="en-GB" sz="1600" b="0" i="0" u="none" strike="noStrike" cap="none" dirty="0">
                <a:solidFill>
                  <a:srgbClr val="000000"/>
                </a:solidFill>
                <a:latin typeface="Google Sans"/>
              </a:rPr>
              <a:t>Authentication (Google OAuth, </a:t>
            </a:r>
            <a:r>
              <a:rPr lang="en-GB" sz="1600" b="0" i="0" u="none" strike="noStrike" cap="none" dirty="0" err="1">
                <a:solidFill>
                  <a:srgbClr val="000000"/>
                </a:solidFill>
                <a:latin typeface="Google Sans"/>
              </a:rPr>
              <a:t>signInWithPopup</a:t>
            </a:r>
            <a:r>
              <a:rPr lang="en-GB" sz="1600" b="0" i="0" u="none" strike="noStrike" cap="none" dirty="0">
                <a:solidFill>
                  <a:srgbClr val="000000"/>
                </a:solidFill>
                <a:latin typeface="Google Sans"/>
              </a:rPr>
              <a:t>), Realtime Database (</a:t>
            </a:r>
            <a:r>
              <a:rPr lang="en-GB" sz="1600" b="0" i="0" u="none" strike="noStrike" cap="none" dirty="0" err="1">
                <a:solidFill>
                  <a:srgbClr val="000000"/>
                </a:solidFill>
                <a:latin typeface="Google Sans"/>
              </a:rPr>
              <a:t>onValue</a:t>
            </a:r>
            <a:r>
              <a:rPr lang="en-GB" sz="1600" b="0" i="0" u="none" strike="noStrike" cap="none" dirty="0">
                <a:solidFill>
                  <a:srgbClr val="000000"/>
                </a:solidFill>
                <a:latin typeface="Google Sans"/>
              </a:rPr>
              <a:t> real-time sync), Hosting (static frontend deployment)</a:t>
            </a:r>
          </a:p>
          <a:p>
            <a:pPr marL="0" marR="0" lvl="0" indent="0" algn="l" rtl="0">
              <a:lnSpc>
                <a:spcPct val="100000"/>
              </a:lnSpc>
              <a:spcBef>
                <a:spcPts val="0"/>
              </a:spcBef>
              <a:spcAft>
                <a:spcPts val="0"/>
              </a:spcAft>
              <a:buNone/>
            </a:pPr>
            <a:r>
              <a:rPr lang="en-GB" sz="1600" b="1" i="0" u="none" strike="noStrike" cap="none" dirty="0">
                <a:solidFill>
                  <a:srgbClr val="000000"/>
                </a:solidFill>
                <a:latin typeface="Google Sans"/>
              </a:rPr>
              <a:t>Deployment: </a:t>
            </a:r>
            <a:r>
              <a:rPr lang="en-GB" sz="1600" b="0" i="0" u="none" strike="noStrike" cap="none" dirty="0">
                <a:solidFill>
                  <a:srgbClr val="000000"/>
                </a:solidFill>
                <a:latin typeface="Google Sans"/>
              </a:rPr>
              <a:t>Firebase Hosting (frontend), Firebase Cloud Functions (backend, Python 3.12, Vertex AI auth), Cloudflare (DNS + SSL for custom domain)</a:t>
            </a:r>
            <a:endParaRPr sz="1200" b="0" i="0" u="none" strike="noStrike" cap="none" dirty="0">
              <a:solidFill>
                <a:srgbClr val="000000"/>
              </a:solidFill>
              <a:latin typeface="Google Sans"/>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p:nvPr/>
        </p:nvSpPr>
        <p:spPr>
          <a:xfrm>
            <a:off x="158825" y="818550"/>
            <a:ext cx="8845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Estimated Implementation Cost</a:t>
            </a:r>
          </a:p>
          <a:p>
            <a:pPr marL="0" marR="0" lvl="0" indent="0" algn="l" rtl="0">
              <a:lnSpc>
                <a:spcPct val="100000"/>
              </a:lnSpc>
              <a:spcBef>
                <a:spcPts val="0"/>
              </a:spcBef>
              <a:spcAft>
                <a:spcPts val="0"/>
              </a:spcAft>
              <a:buNone/>
            </a:pPr>
            <a:r>
              <a:rPr lang="en-GB" sz="1600" b="1" i="0" u="none" strike="noStrike" cap="none">
                <a:solidFill>
                  <a:srgbClr val="1A73E8"/>
                </a:solidFill>
                <a:latin typeface="Google Sans"/>
              </a:rPr>
              <a:t>Current MVP (Hackathon / Free Tier) — $0/month</a:t>
            </a:r>
          </a:p>
          <a:p>
            <a:pPr marL="457200" marR="0" lvl="0" indent="0" algn="l" rtl="0">
              <a:lnSpc>
                <a:spcPct val="100000"/>
              </a:lnSpc>
              <a:spcBef>
                <a:spcPts val="0"/>
              </a:spcBef>
              <a:spcAft>
                <a:spcPts val="0"/>
              </a:spcAft>
              <a:buNone/>
            </a:pPr>
            <a:r>
              <a:rPr lang="en-GB" sz="1600" b="0" i="0" u="none" strike="noStrike" cap="none">
                <a:solidFill>
                  <a:srgbClr val="000000"/>
                </a:solidFill>
                <a:latin typeface="Google Sans"/>
              </a:rPr>
              <a:t>Firebase Spark plan (free): 1 GB Realtime DB, 10 GB hosting, Auth, 125K Cloud Function invocations/month. Vertex AI: first 15 RPM on Gemini 2.5 Flash free. Google Maps Platform: $200 free credit/month covers all API usage at demo scale.</a:t>
            </a:r>
          </a:p>
          <a:p>
            <a:pPr marL="0" marR="0" lvl="0" indent="0" algn="l" rtl="0">
              <a:lnSpc>
                <a:spcPct val="100000"/>
              </a:lnSpc>
              <a:spcBef>
                <a:spcPts val="0"/>
              </a:spcBef>
              <a:spcAft>
                <a:spcPts val="0"/>
              </a:spcAft>
              <a:buNone/>
            </a:pPr>
            <a:r>
              <a:rPr lang="en-GB" sz="1600" b="1" i="0" u="none" strike="noStrike" cap="none">
                <a:solidFill>
                  <a:srgbClr val="1A73E8"/>
                </a:solidFill>
                <a:latin typeface="Google Sans"/>
              </a:rPr>
              <a:t>NGO Pilot (1–5 field officers, ~500 surveys/month) — ~$15–30/month</a:t>
            </a:r>
          </a:p>
          <a:p>
            <a:pPr marL="457200" marR="0" lvl="0" indent="0" algn="l" rtl="0">
              <a:lnSpc>
                <a:spcPct val="100000"/>
              </a:lnSpc>
              <a:spcBef>
                <a:spcPts val="0"/>
              </a:spcBef>
              <a:spcAft>
                <a:spcPts val="0"/>
              </a:spcAft>
              <a:buNone/>
            </a:pPr>
            <a:r>
              <a:rPr lang="en-GB" sz="1600" b="0" i="0" u="none" strike="noStrike" cap="none">
                <a:solidFill>
                  <a:srgbClr val="000000"/>
                </a:solidFill>
                <a:latin typeface="Google Sans"/>
              </a:rPr>
              <a:t>Firebase Blaze (pay-as-you-go, ~$5), Firebase Cloud Functions (~$2 for 500 invocations beyond free tier), Vertex AI Gemini 2.5 Flash (~$0.075/1M tokens → ~$3 for 500 surveys). Google Maps stays within free credit.</a:t>
            </a:r>
          </a:p>
          <a:p>
            <a:pPr marL="0" marR="0" lvl="0" indent="0" algn="l" rtl="0">
              <a:lnSpc>
                <a:spcPct val="100000"/>
              </a:lnSpc>
              <a:spcBef>
                <a:spcPts val="0"/>
              </a:spcBef>
              <a:spcAft>
                <a:spcPts val="0"/>
              </a:spcAft>
              <a:buNone/>
            </a:pPr>
            <a:r>
              <a:rPr lang="en-GB" sz="1600" b="1" i="0" u="none" strike="noStrike" cap="none">
                <a:solidFill>
                  <a:srgbClr val="1A73E8"/>
                </a:solidFill>
                <a:latin typeface="Google Sans"/>
              </a:rPr>
              <a:t>Regional Scale (50 officers, ~10,000 surveys/month) — ~$80–120/month</a:t>
            </a:r>
          </a:p>
          <a:p>
            <a:pPr marL="457200" marR="0" lvl="0" indent="0" algn="l" rtl="0">
              <a:lnSpc>
                <a:spcPct val="100000"/>
              </a:lnSpc>
              <a:spcBef>
                <a:spcPts val="0"/>
              </a:spcBef>
              <a:spcAft>
                <a:spcPts val="0"/>
              </a:spcAft>
              <a:buNone/>
            </a:pPr>
            <a:r>
              <a:rPr lang="en-GB" sz="1600" b="0" i="0" u="none" strike="noStrike" cap="none">
                <a:solidFill>
                  <a:srgbClr val="000000"/>
                </a:solidFill>
                <a:latin typeface="Google Sans"/>
              </a:rPr>
              <a:t>Firebase Blaze (~$30), Firebase Cloud Functions (~$20 for 10K invocations), Vertex AI Gemini (~$50 for 10,000 surveys at full analysis), Maps Platform within free credit. Architecture requires no code changes to scale — only plan upgrades.</a:t>
            </a:r>
            <a:endParaRPr sz="1800" b="0" i="0" u="none" strike="noStrike" cap="none">
              <a:solidFill>
                <a:srgbClr val="000000"/>
              </a:solidFill>
              <a:latin typeface="Google Sans"/>
              <a:ea typeface="Google Sans"/>
              <a:cs typeface="Google Sans"/>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MVP — What is Built and Working</a:t>
            </a:r>
          </a:p>
          <a:p>
            <a:pPr marL="0" marR="0" lvl="0" indent="0" algn="l" rtl="0">
              <a:lnSpc>
                <a:spcPct val="100000"/>
              </a:lnSpc>
              <a:spcBef>
                <a:spcPts val="0"/>
              </a:spcBef>
              <a:spcAft>
                <a:spcPts val="0"/>
              </a:spcAft>
              <a:buNone/>
            </a:pPr>
            <a:r>
              <a:rPr lang="en-GB" b="0" i="0" u="none" strike="noStrike" cap="none" dirty="0">
                <a:solidFill>
                  <a:srgbClr val="000000"/>
                </a:solidFill>
                <a:latin typeface="Google Sans"/>
              </a:rPr>
              <a:t>The following features are fully functional in the deployed MVP:</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Google OAuth sign-in (desktop + mobile)</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Bulk CSV upload → pandas parse → Gemini risk scoring → result display with score, hotspot level, key factors</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Direct manual entry (5 sub-forms) → Gemini survey analysis → geocoding → Firebase write → “Saved to Ops Map” confirmation</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Offline survey queue (</a:t>
            </a:r>
            <a:r>
              <a:rPr lang="en-GB" b="0" i="0" u="none" strike="noStrike" cap="none" dirty="0" err="1">
                <a:solidFill>
                  <a:srgbClr val="000000"/>
                </a:solidFill>
                <a:latin typeface="Google Sans"/>
              </a:rPr>
              <a:t>IndexedDB</a:t>
            </a:r>
            <a:r>
              <a:rPr lang="en-GB" b="0" i="0" u="none" strike="noStrike" cap="none" dirty="0">
                <a:solidFill>
                  <a:srgbClr val="000000"/>
                </a:solidFill>
                <a:latin typeface="Google Sans"/>
              </a:rPr>
              <a:t>) with auto-sync on reconnect and floating status panel</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Live heatmap on dark Google Maps (geolocation auto-centres, archived records excluded)</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Zone drawing, team assignment, Gemini crime context scoring per zone</a:t>
            </a:r>
          </a:p>
          <a:p>
            <a:pPr marL="457200" lvl="0"/>
            <a:r>
              <a:rPr lang="en-GB" b="0" i="0" u="none" strike="noStrike" cap="none" dirty="0">
                <a:solidFill>
                  <a:srgbClr val="000000"/>
                </a:solidFill>
                <a:latin typeface="Google Sans"/>
              </a:rPr>
              <a:t>✓ </a:t>
            </a:r>
            <a:r>
              <a:rPr lang="en-GB" dirty="0">
                <a:latin typeface="Google Sans"/>
              </a:rPr>
              <a:t>Active Deployments</a:t>
            </a:r>
            <a:r>
              <a:rPr lang="en-GB" b="0" i="0" u="none" strike="noStrike" cap="none" dirty="0">
                <a:solidFill>
                  <a:srgbClr val="000000"/>
                </a:solidFill>
                <a:latin typeface="Google Sans"/>
              </a:rPr>
              <a:t>: population-weighted zone score (min. 3 profiles), AI intel panel, field notes, on-demand Gemini economic prediction</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Intervention Outcome modal with live risk-reduction delta display</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Impact Page: before/after Recharts line chart, intervention type bar chart, records table with Δ score</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Privacy-by-design: field allowlist, location coarsening, k-anonymity threshold (min. 3), 90-day auto-retention</a:t>
            </a:r>
          </a:p>
          <a:p>
            <a:pPr marL="457200" marR="0" lvl="0" indent="0" algn="l" rtl="0">
              <a:lnSpc>
                <a:spcPct val="100000"/>
              </a:lnSpc>
              <a:spcBef>
                <a:spcPts val="0"/>
              </a:spcBef>
              <a:spcAft>
                <a:spcPts val="0"/>
              </a:spcAft>
              <a:buNone/>
            </a:pPr>
            <a:r>
              <a:rPr lang="en-GB" b="0" i="0" u="none" strike="noStrike" cap="none" dirty="0">
                <a:solidFill>
                  <a:srgbClr val="000000"/>
                </a:solidFill>
                <a:latin typeface="Google Sans"/>
              </a:rPr>
              <a:t>✓ Deployed on Firebase Hosting + Firebase Cloud Functions (Python 3.12, Vertex AI). Live at: kith.arnabiscoding.com</a:t>
            </a:r>
            <a:endParaRPr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6"/>
          <p:cNvSpPr txBox="1"/>
          <p:nvPr/>
        </p:nvSpPr>
        <p:spPr>
          <a:xfrm>
            <a:off x="109950" y="781900"/>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Additional Details &amp; Future Development</a:t>
            </a:r>
          </a:p>
          <a:p>
            <a:pPr marL="0" marR="0" lvl="0" indent="0" algn="l" rtl="0">
              <a:lnSpc>
                <a:spcPct val="100000"/>
              </a:lnSpc>
              <a:spcBef>
                <a:spcPts val="200"/>
              </a:spcBef>
              <a:spcAft>
                <a:spcPts val="0"/>
              </a:spcAft>
              <a:buNone/>
            </a:pPr>
            <a:r>
              <a:rPr lang="en-GB" sz="1600" b="1" i="0" u="none" strike="noStrike" cap="none">
                <a:solidFill>
                  <a:srgbClr val="1A73E8"/>
                </a:solidFill>
                <a:latin typeface="Google Sans"/>
              </a:rPr>
              <a:t>Phase 2 — Multi-NGO Collaboration</a:t>
            </a:r>
          </a:p>
          <a:p>
            <a:pPr marL="457200" marR="0" lvl="0" indent="0" algn="l" rtl="0">
              <a:lnSpc>
                <a:spcPct val="100000"/>
              </a:lnSpc>
              <a:spcBef>
                <a:spcPts val="0"/>
              </a:spcBef>
              <a:spcAft>
                <a:spcPts val="0"/>
              </a:spcAft>
              <a:buNone/>
            </a:pPr>
            <a:r>
              <a:rPr lang="en-GB" sz="1500" b="0" i="0" u="none" strike="noStrike" cap="none">
                <a:solidFill>
                  <a:srgbClr val="000000"/>
                </a:solidFill>
                <a:latin typeface="Google Sans"/>
              </a:rPr>
              <a:t>Shared anonymised heatmap layer across multiple NGO accounts in the same region, enabling coordinated resource allocation without exposing individual organisation’s field data.</a:t>
            </a:r>
          </a:p>
          <a:p>
            <a:pPr marL="0" marR="0" lvl="0" indent="0" algn="l" rtl="0">
              <a:lnSpc>
                <a:spcPct val="100000"/>
              </a:lnSpc>
              <a:spcBef>
                <a:spcPts val="200"/>
              </a:spcBef>
              <a:spcAft>
                <a:spcPts val="0"/>
              </a:spcAft>
              <a:buNone/>
            </a:pPr>
            <a:r>
              <a:rPr lang="en-GB" sz="1600" b="1" i="0" u="none" strike="noStrike" cap="none">
                <a:solidFill>
                  <a:srgbClr val="1A73E8"/>
                </a:solidFill>
                <a:latin typeface="Google Sans"/>
              </a:rPr>
              <a:t>Phase 3 — Predictive Trend Forecasting</a:t>
            </a:r>
          </a:p>
          <a:p>
            <a:pPr marL="457200" marR="0" lvl="0" indent="0" algn="l" rtl="0">
              <a:lnSpc>
                <a:spcPct val="100000"/>
              </a:lnSpc>
              <a:spcBef>
                <a:spcPts val="0"/>
              </a:spcBef>
              <a:spcAft>
                <a:spcPts val="0"/>
              </a:spcAft>
              <a:buNone/>
            </a:pPr>
            <a:r>
              <a:rPr lang="en-GB" sz="1500" b="0" i="0" u="none" strike="noStrike" cap="none">
                <a:solidFill>
                  <a:srgbClr val="000000"/>
                </a:solidFill>
                <a:latin typeface="Google Sans"/>
              </a:rPr>
              <a:t>Train a lightweight time-series model on historical risk score sequences to forecast emerging hotspots 2-4 weeks ahead, giving NGOs proactive rather than reactive deployment windows.</a:t>
            </a:r>
          </a:p>
          <a:p>
            <a:pPr marL="0" marR="0" lvl="0" indent="0" algn="l" rtl="0">
              <a:lnSpc>
                <a:spcPct val="100000"/>
              </a:lnSpc>
              <a:spcBef>
                <a:spcPts val="200"/>
              </a:spcBef>
              <a:spcAft>
                <a:spcPts val="0"/>
              </a:spcAft>
              <a:buNone/>
            </a:pPr>
            <a:r>
              <a:rPr lang="en-GB" sz="1600" b="1" i="0" u="none" strike="noStrike" cap="none">
                <a:solidFill>
                  <a:srgbClr val="1A73E8"/>
                </a:solidFill>
                <a:latin typeface="Google Sans"/>
              </a:rPr>
              <a:t>Phase 4 — Native Mobile App (Android)</a:t>
            </a:r>
          </a:p>
          <a:p>
            <a:pPr marL="457200" marR="0" lvl="0" indent="0" algn="l" rtl="0">
              <a:lnSpc>
                <a:spcPct val="100000"/>
              </a:lnSpc>
              <a:spcBef>
                <a:spcPts val="0"/>
              </a:spcBef>
              <a:spcAft>
                <a:spcPts val="0"/>
              </a:spcAft>
              <a:buNone/>
            </a:pPr>
            <a:r>
              <a:rPr lang="en-GB" sz="1500" b="0" i="0" u="none" strike="noStrike" cap="none">
                <a:solidFill>
                  <a:srgbClr val="000000"/>
                </a:solidFill>
                <a:latin typeface="Google Sans"/>
              </a:rPr>
              <a:t>Dedicated Android app for field officers with full offline capability, GPS auto-tagging of surveys, and push notification when their assigned zone receives new risk data.</a:t>
            </a:r>
          </a:p>
          <a:p>
            <a:pPr marL="0" marR="0" lvl="0" indent="0" algn="l" rtl="0">
              <a:lnSpc>
                <a:spcPct val="100000"/>
              </a:lnSpc>
              <a:spcBef>
                <a:spcPts val="200"/>
              </a:spcBef>
              <a:spcAft>
                <a:spcPts val="0"/>
              </a:spcAft>
              <a:buNone/>
            </a:pPr>
            <a:r>
              <a:rPr lang="en-GB" sz="1600" b="1" i="0" u="none" strike="noStrike" cap="none">
                <a:solidFill>
                  <a:srgbClr val="1A73E8"/>
                </a:solidFill>
                <a:latin typeface="Google Sans"/>
              </a:rPr>
              <a:t>Phase 5 — Government API Integration</a:t>
            </a:r>
          </a:p>
          <a:p>
            <a:pPr marL="457200" marR="0" lvl="0" indent="0" algn="l" rtl="0">
              <a:lnSpc>
                <a:spcPct val="100000"/>
              </a:lnSpc>
              <a:spcBef>
                <a:spcPts val="0"/>
              </a:spcBef>
              <a:spcAft>
                <a:spcPts val="0"/>
              </a:spcAft>
              <a:buNone/>
            </a:pPr>
            <a:r>
              <a:rPr lang="en-GB" sz="1500" b="0" i="0" u="none" strike="noStrike" cap="none">
                <a:solidFill>
                  <a:srgbClr val="000000"/>
                </a:solidFill>
                <a:latin typeface="Google Sans"/>
              </a:rPr>
              <a:t>Ingest open government datasets (NCRB crime records, Census demographic data, HMIS health indicators) as additional heatmap layers, enabling cross-correlation with field survey data for richer vulnerability modelling.</a:t>
            </a:r>
            <a:endParaRPr sz="1800" b="0" i="0" u="none" strike="noStrike" cap="none">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Provide links to your:</a:t>
            </a:r>
            <a:endParaRPr sz="1800" b="0" i="0" u="none" strike="noStrike" cap="none">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GitHub Public Repository: https://github.com/ArnabIsCoding/kith</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Demo Video Link (3 Minutes): [To be added before submission]</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a:solidFill>
                  <a:srgbClr val="000000"/>
                </a:solidFill>
                <a:latin typeface="Google Sans"/>
                <a:ea typeface="Google Sans"/>
                <a:cs typeface="Google Sans"/>
                <a:sym typeface="Google Sans"/>
              </a:rPr>
              <a:t>MVP Link: https://kith.arnabiscoding.com</a:t>
            </a:r>
            <a:endParaRPr sz="1800" b="0" i="0" u="none" strike="noStrike" cap="none">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Link: https://kith.arnabiscoding.com</a:t>
            </a:r>
            <a:endParaRPr sz="180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6"/>
          <p:cNvSpPr txBox="1"/>
          <p:nvPr/>
        </p:nvSpPr>
        <p:spPr>
          <a:xfrm>
            <a:off x="-53470" y="464282"/>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Why I Built This</a:t>
            </a:r>
          </a:p>
          <a:p>
            <a:pPr marL="457200"/>
            <a:r>
              <a:rPr lang="en-GB" sz="1200" b="1" dirty="0">
                <a:solidFill>
                  <a:srgbClr val="1A73E8"/>
                </a:solidFill>
                <a:latin typeface="Google Sans"/>
              </a:rPr>
              <a:t>A genuine curiosity about Google’s developer ecosystem. </a:t>
            </a:r>
            <a:r>
              <a:rPr lang="en-GB" sz="1200" b="0" i="0" u="none" strike="noStrike" cap="none" dirty="0">
                <a:solidFill>
                  <a:srgbClr val="000000"/>
                </a:solidFill>
                <a:latin typeface="Google Sans"/>
              </a:rPr>
              <a:t>Kith began as an opportunity to go deep on Google’s Maps and AI APIs in a real-world context. </a:t>
            </a:r>
            <a:r>
              <a:rPr lang="en-GB" sz="1200" dirty="0">
                <a:latin typeface="Google Sans"/>
              </a:rPr>
              <a:t>U</a:t>
            </a:r>
            <a:r>
              <a:rPr lang="en-GB" sz="1200" b="0" i="0" u="none" strike="noStrike" cap="none" dirty="0">
                <a:solidFill>
                  <a:srgbClr val="000000"/>
                </a:solidFill>
                <a:latin typeface="Google Sans"/>
              </a:rPr>
              <a:t>nderstanding how these services interoperate, not just how each one works individually. That integration challenge was the initial draw.</a:t>
            </a:r>
            <a:r>
              <a:rPr lang="en-GB" sz="1200" b="1" dirty="0">
                <a:solidFill>
                  <a:srgbClr val="1A73E8"/>
                </a:solidFill>
                <a:latin typeface="Google Sans"/>
              </a:rPr>
              <a:t> The prompt engineering problem was unexpectedly absorbing. </a:t>
            </a:r>
            <a:r>
              <a:rPr lang="en-GB" sz="1200" b="0" i="0" u="none" strike="noStrike" cap="none" dirty="0">
                <a:solidFill>
                  <a:srgbClr val="000000"/>
                </a:solidFill>
                <a:latin typeface="Google Sans"/>
              </a:rPr>
              <a:t>Getting Gemini to return consistent, structured JSON across wildly different input required building a rubric with mandatory override rules, not just a generic prompt. Arriving at a system prompt that produced reliable, calibrated risk scores across all three input modes was one of the most satisfying parts of the build. </a:t>
            </a:r>
            <a:r>
              <a:rPr lang="en-GB" sz="1200" b="1" dirty="0">
                <a:solidFill>
                  <a:srgbClr val="1A73E8"/>
                </a:solidFill>
                <a:latin typeface="Google Sans"/>
              </a:rPr>
              <a:t>The problem is real and under-served. </a:t>
            </a:r>
            <a:r>
              <a:rPr lang="en-GB" sz="1200" b="0" i="0" u="none" strike="noStrike" cap="none" dirty="0">
                <a:solidFill>
                  <a:srgbClr val="000000"/>
                </a:solidFill>
                <a:latin typeface="Google Sans"/>
              </a:rPr>
              <a:t>Existing report show what already happened. NGOs doing community health work in India need to know where to send their field teams next week, not what the statistics looked like last quarter. That gap between retrospective government data and proactive field deployment felt like the right problem to work on.</a:t>
            </a:r>
            <a:endParaRPr sz="1200" b="0" i="0" u="none" strike="noStrike" cap="none" dirty="0">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2">
            <a:alphaModFix/>
          </a:blip>
          <a:stretch>
            <a:fillRect/>
          </a:stretch>
        </p:blipFill>
        <p:spPr>
          <a:xfrm>
            <a:off x="0" y="0"/>
            <a:ext cx="9144003" cy="589347"/>
          </a:xfrm>
          <a:prstGeom prst="rect">
            <a:avLst/>
          </a:prstGeom>
          <a:noFill/>
          <a:ln>
            <a:noFill/>
          </a:ln>
        </p:spPr>
      </p:pic>
      <p:sp>
        <p:nvSpPr>
          <p:cNvPr id="2" name="Google Shape;169;p36">
            <a:extLst>
              <a:ext uri="{FF2B5EF4-FFF2-40B4-BE49-F238E27FC236}">
                <a16:creationId xmlns:a16="http://schemas.microsoft.com/office/drawing/2014/main" id="{48FF9E31-D66A-3A80-B7C0-D4F3C9C870C6}"/>
              </a:ext>
            </a:extLst>
          </p:cNvPr>
          <p:cNvSpPr txBox="1"/>
          <p:nvPr/>
        </p:nvSpPr>
        <p:spPr>
          <a:xfrm>
            <a:off x="0" y="2424847"/>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Who Can Benefit</a:t>
            </a:r>
          </a:p>
          <a:p>
            <a:pPr marL="457200"/>
            <a:r>
              <a:rPr lang="en-GB" sz="1200" b="1" dirty="0">
                <a:solidFill>
                  <a:srgbClr val="1A73E8"/>
                </a:solidFill>
                <a:latin typeface="Google Sans"/>
              </a:rPr>
              <a:t>NGO Field Coordinators &amp; Substance Abuse Prevention. </a:t>
            </a:r>
            <a:r>
              <a:rPr lang="en-GB" sz="1200" b="0" i="0" u="none" strike="noStrike" cap="none" dirty="0">
                <a:solidFill>
                  <a:srgbClr val="000000"/>
                </a:solidFill>
                <a:latin typeface="Google Sans"/>
              </a:rPr>
              <a:t>The primary user: a coordinator managing 10</a:t>
            </a:r>
            <a:r>
              <a:rPr lang="en-GB" sz="1200" dirty="0">
                <a:latin typeface="Google Sans"/>
              </a:rPr>
              <a:t>-</a:t>
            </a:r>
            <a:r>
              <a:rPr lang="en-GB" sz="1200" b="0" i="0" u="none" strike="noStrike" cap="none" dirty="0">
                <a:solidFill>
                  <a:srgbClr val="000000"/>
                </a:solidFill>
                <a:latin typeface="Google Sans"/>
              </a:rPr>
              <a:t>50 field workers across a district, currently receiving WhatsApp-forwarded Excel sheets and plotting things manually. Kith replaces that entire workflow. Organisations like </a:t>
            </a:r>
            <a:r>
              <a:rPr lang="en-GB" sz="1200" b="0" i="0" u="none" strike="noStrike" cap="none" dirty="0" err="1">
                <a:solidFill>
                  <a:srgbClr val="000000"/>
                </a:solidFill>
                <a:latin typeface="Google Sans"/>
              </a:rPr>
              <a:t>iCall</a:t>
            </a:r>
            <a:r>
              <a:rPr lang="en-GB" sz="1200" b="0" i="0" u="none" strike="noStrike" cap="none" dirty="0">
                <a:solidFill>
                  <a:srgbClr val="000000"/>
                </a:solidFill>
                <a:latin typeface="Google Sans"/>
              </a:rPr>
              <a:t>, </a:t>
            </a:r>
            <a:r>
              <a:rPr lang="en-GB" sz="1200" b="0" i="0" u="none" strike="noStrike" cap="none" dirty="0" err="1">
                <a:solidFill>
                  <a:srgbClr val="000000"/>
                </a:solidFill>
                <a:latin typeface="Google Sans"/>
              </a:rPr>
              <a:t>Vandrevala</a:t>
            </a:r>
            <a:r>
              <a:rPr lang="en-GB" sz="1200" b="0" i="0" u="none" strike="noStrike" cap="none" dirty="0">
                <a:solidFill>
                  <a:srgbClr val="000000"/>
                </a:solidFill>
                <a:latin typeface="Google Sans"/>
              </a:rPr>
              <a:t> Foundation, and hundreds of state-level substance abuse NGOs are doing exactly this work manually today. </a:t>
            </a:r>
            <a:r>
              <a:rPr lang="en-GB" sz="1200" b="1" dirty="0">
                <a:solidFill>
                  <a:srgbClr val="1A73E8"/>
                </a:solidFill>
                <a:latin typeface="Google Sans"/>
              </a:rPr>
              <a:t>Communicable Disease Tracking &amp; Public Health Outreach. </a:t>
            </a:r>
            <a:r>
              <a:rPr lang="en-GB" sz="1200" b="0" i="0" u="none" strike="noStrike" cap="none" dirty="0">
                <a:solidFill>
                  <a:srgbClr val="000000"/>
                </a:solidFill>
                <a:latin typeface="Google Sans"/>
              </a:rPr>
              <a:t>The same survey-to-heatmap pipeline applies directly to TB contact tracing, vaccine hesitancy mapping, and nutrition surveillance. ICDS Anganwadi workers collect household data on paper today, that data reaches a district office weeks later. Kith makes it spatial and actionable within minutes of collection. </a:t>
            </a:r>
            <a:r>
              <a:rPr lang="en-GB" sz="1200" b="1" dirty="0">
                <a:solidFill>
                  <a:srgbClr val="1A73E8"/>
                </a:solidFill>
                <a:latin typeface="Google Sans"/>
              </a:rPr>
              <a:t>Disaster Relief &amp; Child Welfare. </a:t>
            </a:r>
            <a:r>
              <a:rPr lang="en-GB" sz="1200" b="0" i="0" u="none" strike="noStrike" cap="none" dirty="0">
                <a:solidFill>
                  <a:srgbClr val="000000"/>
                </a:solidFill>
                <a:latin typeface="Google Sans"/>
              </a:rPr>
              <a:t>When a cyclone or flood hits, relief NGOs need to know which areas have the highest vulnerability concentration in the first 72 hours. A heatmap built from pre-existing community data answers that immediately. Child welfare organisations tracking malnutrition face the identical data-to-deployment problem. Kith’s architecture generalises to any field survey workflow where spatial prioritisation matters.</a:t>
            </a:r>
            <a:endParaRPr sz="1200" b="0" i="0" u="none" strike="noStrike" cap="none" dirty="0">
              <a:solidFill>
                <a:srgbClr val="000000"/>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629</TotalTime>
  <Words>2704</Words>
  <Application>Microsoft Office PowerPoint</Application>
  <PresentationFormat>On-screen Show (16:9)</PresentationFormat>
  <Paragraphs>94</Paragraphs>
  <Slides>15</Slides>
  <Notes>14</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15</vt:i4>
      </vt:variant>
    </vt:vector>
  </HeadingPairs>
  <TitlesOfParts>
    <vt:vector size="19"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Arnab Goswami</cp:lastModifiedBy>
  <cp:revision>5</cp:revision>
  <dcterms:modified xsi:type="dcterms:W3CDTF">2026-04-28T07:07:08Z</dcterms:modified>
</cp:coreProperties>
</file>